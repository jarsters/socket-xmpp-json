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Arimo Italics" charset="1" panose="020B0604020202090204"/>
      <p:regular r:id="rId45"/>
    </p:embeddedFont>
    <p:embeddedFont>
      <p:font typeface="League Spartan" charset="1" panose="00000800000000000000"/>
      <p:regular r:id="rId46"/>
    </p:embeddedFont>
    <p:embeddedFont>
      <p:font typeface="Arimo" charset="1" panose="020B0604020202020204"/>
      <p:regular r:id="rId47"/>
    </p:embeddedFont>
    <p:embeddedFont>
      <p:font typeface="Arimo Bold" charset="1" panose="020B07040202020202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44.png" Type="http://schemas.openxmlformats.org/officeDocument/2006/relationships/image"/><Relationship Id="rId7" Target="../media/image4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5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5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5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998007">
            <a:off x="-9122350" y="-10238399"/>
            <a:ext cx="15928608" cy="12974575"/>
          </a:xfrm>
          <a:custGeom>
            <a:avLst/>
            <a:gdLst/>
            <a:ahLst/>
            <a:cxnLst/>
            <a:rect r="r" b="b" t="t" l="l"/>
            <a:pathLst>
              <a:path h="12974575" w="15928608">
                <a:moveTo>
                  <a:pt x="0" y="0"/>
                </a:moveTo>
                <a:lnTo>
                  <a:pt x="15928608" y="0"/>
                </a:lnTo>
                <a:lnTo>
                  <a:pt x="15928608" y="12974575"/>
                </a:lnTo>
                <a:lnTo>
                  <a:pt x="0" y="12974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7581133" y="8405994"/>
            <a:ext cx="17219666" cy="14026201"/>
          </a:xfrm>
          <a:custGeom>
            <a:avLst/>
            <a:gdLst/>
            <a:ahLst/>
            <a:cxnLst/>
            <a:rect r="r" b="b" t="t" l="l"/>
            <a:pathLst>
              <a:path h="14026201" w="17219666">
                <a:moveTo>
                  <a:pt x="0" y="14026201"/>
                </a:moveTo>
                <a:lnTo>
                  <a:pt x="17219666" y="14026201"/>
                </a:lnTo>
                <a:lnTo>
                  <a:pt x="17219666" y="0"/>
                </a:lnTo>
                <a:lnTo>
                  <a:pt x="0" y="0"/>
                </a:lnTo>
                <a:lnTo>
                  <a:pt x="0" y="1402620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3785925" y="-13126603"/>
            <a:ext cx="17219666" cy="14026201"/>
          </a:xfrm>
          <a:custGeom>
            <a:avLst/>
            <a:gdLst/>
            <a:ahLst/>
            <a:cxnLst/>
            <a:rect r="r" b="b" t="t" l="l"/>
            <a:pathLst>
              <a:path h="14026201" w="17219666">
                <a:moveTo>
                  <a:pt x="0" y="14026201"/>
                </a:moveTo>
                <a:lnTo>
                  <a:pt x="17219666" y="14026201"/>
                </a:lnTo>
                <a:lnTo>
                  <a:pt x="17219666" y="0"/>
                </a:lnTo>
                <a:lnTo>
                  <a:pt x="0" y="0"/>
                </a:lnTo>
                <a:lnTo>
                  <a:pt x="0" y="1402620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998007">
            <a:off x="-8218560" y="8931807"/>
            <a:ext cx="15928608" cy="12974575"/>
          </a:xfrm>
          <a:custGeom>
            <a:avLst/>
            <a:gdLst/>
            <a:ahLst/>
            <a:cxnLst/>
            <a:rect r="r" b="b" t="t" l="l"/>
            <a:pathLst>
              <a:path h="12974575" w="15928608">
                <a:moveTo>
                  <a:pt x="0" y="0"/>
                </a:moveTo>
                <a:lnTo>
                  <a:pt x="15928608" y="0"/>
                </a:lnTo>
                <a:lnTo>
                  <a:pt x="15928608" y="12974575"/>
                </a:lnTo>
                <a:lnTo>
                  <a:pt x="0" y="12974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5825403"/>
            <a:ext cx="9144000" cy="874624"/>
          </a:xfrm>
          <a:prstGeom prst="rect">
            <a:avLst/>
          </a:prstGeom>
        </p:spPr>
        <p:txBody>
          <a:bodyPr anchor="t" rtlCol="false" tIns="0" lIns="0" bIns="0" rIns="0">
            <a:spAutoFit/>
          </a:bodyPr>
          <a:lstStyle/>
          <a:p>
            <a:pPr algn="l">
              <a:lnSpc>
                <a:spcPts val="6917"/>
              </a:lnSpc>
              <a:spcBef>
                <a:spcPct val="0"/>
              </a:spcBef>
            </a:pPr>
            <a:r>
              <a:rPr lang="en-US" sz="4940" i="true">
                <a:solidFill>
                  <a:srgbClr val="F26B6D"/>
                </a:solidFill>
                <a:latin typeface="Arimo Italics"/>
                <a:ea typeface="Arimo Italics"/>
                <a:cs typeface="Arimo Italics"/>
                <a:sym typeface="Arimo Italics"/>
              </a:rPr>
              <a:t>Oleh Resa Fajar Sukma</a:t>
            </a:r>
          </a:p>
        </p:txBody>
      </p:sp>
      <p:sp>
        <p:nvSpPr>
          <p:cNvPr name="TextBox 7" id="7"/>
          <p:cNvSpPr txBox="true"/>
          <p:nvPr/>
        </p:nvSpPr>
        <p:spPr>
          <a:xfrm rot="0">
            <a:off x="1028700" y="2039596"/>
            <a:ext cx="10853259" cy="3584784"/>
          </a:xfrm>
          <a:prstGeom prst="rect">
            <a:avLst/>
          </a:prstGeom>
        </p:spPr>
        <p:txBody>
          <a:bodyPr anchor="t" rtlCol="false" tIns="0" lIns="0" bIns="0" rIns="0">
            <a:spAutoFit/>
          </a:bodyPr>
          <a:lstStyle/>
          <a:p>
            <a:pPr algn="l">
              <a:lnSpc>
                <a:spcPts val="7163"/>
              </a:lnSpc>
              <a:spcBef>
                <a:spcPct val="0"/>
              </a:spcBef>
            </a:pPr>
            <a:r>
              <a:rPr lang="en-US" sz="5116">
                <a:solidFill>
                  <a:srgbClr val="F26B6D"/>
                </a:solidFill>
                <a:latin typeface="League Spartan"/>
                <a:ea typeface="League Spartan"/>
                <a:cs typeface="League Spartan"/>
                <a:sym typeface="League Spartan"/>
              </a:rPr>
              <a:t>PEMBUATAN MIDDLEWARE KOMUNIKASI MENGGUNAKAN XMPP DAN ARSITEKTUR MICROSERVICE </a:t>
            </a:r>
          </a:p>
        </p:txBody>
      </p:sp>
      <p:sp>
        <p:nvSpPr>
          <p:cNvPr name="Freeform 8" id="8"/>
          <p:cNvSpPr/>
          <p:nvPr/>
        </p:nvSpPr>
        <p:spPr>
          <a:xfrm flipH="false" flipV="false" rot="0">
            <a:off x="11578442" y="3259106"/>
            <a:ext cx="6709558" cy="7027894"/>
          </a:xfrm>
          <a:custGeom>
            <a:avLst/>
            <a:gdLst/>
            <a:ahLst/>
            <a:cxnLst/>
            <a:rect r="r" b="b" t="t" l="l"/>
            <a:pathLst>
              <a:path h="7027894" w="6709558">
                <a:moveTo>
                  <a:pt x="0" y="0"/>
                </a:moveTo>
                <a:lnTo>
                  <a:pt x="6709558" y="0"/>
                </a:lnTo>
                <a:lnTo>
                  <a:pt x="6709558" y="7027894"/>
                </a:lnTo>
                <a:lnTo>
                  <a:pt x="0" y="70278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898909"/>
            <a:ext cx="3837643" cy="1384300"/>
          </a:xfrm>
          <a:prstGeom prst="rect">
            <a:avLst/>
          </a:prstGeom>
        </p:spPr>
        <p:txBody>
          <a:bodyPr anchor="t" rtlCol="false" tIns="0" lIns="0" bIns="0" rIns="0">
            <a:spAutoFit/>
          </a:bodyPr>
          <a:lstStyle/>
          <a:p>
            <a:pPr algn="ctr">
              <a:lnSpc>
                <a:spcPts val="5599"/>
              </a:lnSpc>
              <a:spcBef>
                <a:spcPct val="0"/>
              </a:spcBef>
            </a:pPr>
            <a:r>
              <a:rPr lang="en-US" sz="3999">
                <a:solidFill>
                  <a:srgbClr val="F58D05"/>
                </a:solidFill>
                <a:latin typeface="League Spartan"/>
                <a:ea typeface="League Spartan"/>
                <a:cs typeface="League Spartan"/>
                <a:sym typeface="League Spartan"/>
              </a:rPr>
              <a:t>DOSEN PENGUJI</a:t>
            </a:r>
          </a:p>
        </p:txBody>
      </p:sp>
      <p:sp>
        <p:nvSpPr>
          <p:cNvPr name="Freeform 3" id="3"/>
          <p:cNvSpPr/>
          <p:nvPr/>
        </p:nvSpPr>
        <p:spPr>
          <a:xfrm flipH="false" flipV="true" rot="-1449686">
            <a:off x="-8998541" y="-12611241"/>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449686">
            <a:off x="13620629" y="-8038281"/>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9577186" y="1898909"/>
            <a:ext cx="5289850" cy="1384300"/>
          </a:xfrm>
          <a:prstGeom prst="rect">
            <a:avLst/>
          </a:prstGeom>
        </p:spPr>
        <p:txBody>
          <a:bodyPr anchor="t" rtlCol="false" tIns="0" lIns="0" bIns="0" rIns="0">
            <a:spAutoFit/>
          </a:bodyPr>
          <a:lstStyle/>
          <a:p>
            <a:pPr algn="ctr">
              <a:lnSpc>
                <a:spcPts val="5599"/>
              </a:lnSpc>
              <a:spcBef>
                <a:spcPct val="0"/>
              </a:spcBef>
            </a:pPr>
            <a:r>
              <a:rPr lang="en-US" sz="3999">
                <a:solidFill>
                  <a:srgbClr val="F58D05"/>
                </a:solidFill>
                <a:latin typeface="League Spartan"/>
                <a:ea typeface="League Spartan"/>
                <a:cs typeface="League Spartan"/>
                <a:sym typeface="League Spartan"/>
              </a:rPr>
              <a:t>DOSEN PEMBIMBING</a:t>
            </a:r>
          </a:p>
        </p:txBody>
      </p:sp>
      <p:sp>
        <p:nvSpPr>
          <p:cNvPr name="TextBox 6" id="6"/>
          <p:cNvSpPr txBox="true"/>
          <p:nvPr/>
        </p:nvSpPr>
        <p:spPr>
          <a:xfrm rot="0">
            <a:off x="8701760" y="3743640"/>
            <a:ext cx="7623798" cy="1199515"/>
          </a:xfrm>
          <a:prstGeom prst="rect">
            <a:avLst/>
          </a:prstGeom>
        </p:spPr>
        <p:txBody>
          <a:bodyPr anchor="t" rtlCol="false" tIns="0" lIns="0" bIns="0" rIns="0">
            <a:spAutoFit/>
          </a:bodyPr>
          <a:lstStyle/>
          <a:p>
            <a:pPr algn="just" marL="734063" indent="-367031" lvl="1">
              <a:lnSpc>
                <a:spcPts val="4760"/>
              </a:lnSpc>
              <a:buFont typeface="Arial"/>
              <a:buChar char="•"/>
            </a:pPr>
            <a:r>
              <a:rPr lang="en-US" sz="3400">
                <a:solidFill>
                  <a:srgbClr val="866255"/>
                </a:solidFill>
                <a:latin typeface="Arimo"/>
                <a:ea typeface="Arimo"/>
                <a:cs typeface="Arimo"/>
                <a:sym typeface="Arimo"/>
              </a:rPr>
              <a:t>Muhammad Eka Suryana, M.Kom</a:t>
            </a:r>
          </a:p>
          <a:p>
            <a:pPr algn="just" marL="734063" indent="-367031" lvl="1">
              <a:lnSpc>
                <a:spcPts val="4760"/>
              </a:lnSpc>
              <a:buFont typeface="Arial"/>
              <a:buChar char="•"/>
            </a:pPr>
            <a:r>
              <a:rPr lang="en-US" sz="3400">
                <a:solidFill>
                  <a:srgbClr val="866255"/>
                </a:solidFill>
                <a:latin typeface="Arimo"/>
                <a:ea typeface="Arimo"/>
                <a:cs typeface="Arimo"/>
                <a:sym typeface="Arimo"/>
              </a:rPr>
              <a:t>Med Irzal, M.Kom</a:t>
            </a:r>
          </a:p>
        </p:txBody>
      </p:sp>
      <p:sp>
        <p:nvSpPr>
          <p:cNvPr name="TextBox 7" id="7"/>
          <p:cNvSpPr txBox="true"/>
          <p:nvPr/>
        </p:nvSpPr>
        <p:spPr>
          <a:xfrm rot="0">
            <a:off x="1028700" y="3682045"/>
            <a:ext cx="7623798" cy="1845310"/>
          </a:xfrm>
          <a:prstGeom prst="rect">
            <a:avLst/>
          </a:prstGeom>
        </p:spPr>
        <p:txBody>
          <a:bodyPr anchor="t" rtlCol="false" tIns="0" lIns="0" bIns="0" rIns="0">
            <a:spAutoFit/>
          </a:bodyPr>
          <a:lstStyle/>
          <a:p>
            <a:pPr algn="just" marL="734063" indent="-367031" lvl="1">
              <a:lnSpc>
                <a:spcPts val="4760"/>
              </a:lnSpc>
              <a:buFont typeface="Arial"/>
              <a:buChar char="•"/>
            </a:pPr>
            <a:r>
              <a:rPr lang="en-US" sz="3400">
                <a:solidFill>
                  <a:srgbClr val="866255"/>
                </a:solidFill>
                <a:latin typeface="Arimo"/>
                <a:ea typeface="Arimo"/>
                <a:cs typeface="Arimo"/>
                <a:sym typeface="Arimo"/>
              </a:rPr>
              <a:t>Drs. Mulyono, M.Kom</a:t>
            </a:r>
          </a:p>
          <a:p>
            <a:pPr algn="just" marL="734063" indent="-367031" lvl="1">
              <a:lnSpc>
                <a:spcPts val="4760"/>
              </a:lnSpc>
              <a:buFont typeface="Arial"/>
              <a:buChar char="•"/>
            </a:pPr>
            <a:r>
              <a:rPr lang="en-US" sz="3400">
                <a:solidFill>
                  <a:srgbClr val="866255"/>
                </a:solidFill>
                <a:latin typeface="Arimo"/>
                <a:ea typeface="Arimo"/>
                <a:cs typeface="Arimo"/>
                <a:sym typeface="Arimo"/>
              </a:rPr>
              <a:t>Ria Arafiyah, M.Si</a:t>
            </a:r>
          </a:p>
          <a:p>
            <a:pPr algn="just" marL="734063" indent="-367031" lvl="1">
              <a:lnSpc>
                <a:spcPts val="4760"/>
              </a:lnSpc>
              <a:buFont typeface="Arial"/>
              <a:buChar char="•"/>
            </a:pPr>
            <a:r>
              <a:rPr lang="en-US" sz="3400">
                <a:solidFill>
                  <a:srgbClr val="866255"/>
                </a:solidFill>
                <a:latin typeface="Arimo"/>
                <a:ea typeface="Arimo"/>
                <a:cs typeface="Arimo"/>
                <a:sym typeface="Arimo"/>
              </a:rPr>
              <a:t>Ari Hendarno, M.Kom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8998541" y="-12611241"/>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1449686">
            <a:off x="13620629" y="-8038281"/>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38334" y="4524690"/>
            <a:ext cx="4853664" cy="599440"/>
          </a:xfrm>
          <a:prstGeom prst="rect">
            <a:avLst/>
          </a:prstGeom>
        </p:spPr>
        <p:txBody>
          <a:bodyPr anchor="t" rtlCol="false" tIns="0" lIns="0" bIns="0" rIns="0">
            <a:spAutoFit/>
          </a:bodyPr>
          <a:lstStyle/>
          <a:p>
            <a:pPr algn="just">
              <a:lnSpc>
                <a:spcPts val="4760"/>
              </a:lnSpc>
            </a:pPr>
            <a:r>
              <a:rPr lang="en-US" b="true" sz="3400">
                <a:solidFill>
                  <a:srgbClr val="866255"/>
                </a:solidFill>
                <a:latin typeface="Arimo Bold"/>
                <a:ea typeface="Arimo Bold"/>
                <a:cs typeface="Arimo Bold"/>
                <a:sym typeface="Arimo Bold"/>
              </a:rPr>
              <a:t>Dr. Ria Arafiyah, M. Si.</a:t>
            </a:r>
          </a:p>
        </p:txBody>
      </p:sp>
      <p:sp>
        <p:nvSpPr>
          <p:cNvPr name="TextBox 5" id="5"/>
          <p:cNvSpPr txBox="true"/>
          <p:nvPr/>
        </p:nvSpPr>
        <p:spPr>
          <a:xfrm rot="0">
            <a:off x="5201498" y="4122403"/>
            <a:ext cx="12698237" cy="2999740"/>
          </a:xfrm>
          <a:prstGeom prst="rect">
            <a:avLst/>
          </a:prstGeom>
        </p:spPr>
        <p:txBody>
          <a:bodyPr anchor="t" rtlCol="false" tIns="0" lIns="0" bIns="0" rIns="0">
            <a:spAutoFit/>
          </a:bodyPr>
          <a:lstStyle/>
          <a:p>
            <a:pPr algn="just" marL="734063" indent="-367031" lvl="1">
              <a:lnSpc>
                <a:spcPts val="4760"/>
              </a:lnSpc>
              <a:buFont typeface="Arial"/>
              <a:buChar char="•"/>
            </a:pPr>
            <a:r>
              <a:rPr lang="en-US" sz="3400">
                <a:solidFill>
                  <a:srgbClr val="866255"/>
                </a:solidFill>
                <a:latin typeface="Arimo"/>
                <a:ea typeface="Arimo"/>
                <a:cs typeface="Arimo"/>
                <a:sym typeface="Arimo"/>
              </a:rPr>
              <a:t>Perbaiki penulisan latar belakang, masukkan </a:t>
            </a:r>
            <a:r>
              <a:rPr lang="en-US" sz="3400">
                <a:solidFill>
                  <a:srgbClr val="866255"/>
                </a:solidFill>
                <a:latin typeface="Arimo"/>
                <a:ea typeface="Arimo"/>
                <a:cs typeface="Arimo"/>
                <a:sym typeface="Arimo"/>
              </a:rPr>
              <a:t>sitasi pada latar belakang.</a:t>
            </a:r>
          </a:p>
          <a:p>
            <a:pPr algn="just" marL="734063" indent="-367031" lvl="1">
              <a:lnSpc>
                <a:spcPts val="4760"/>
              </a:lnSpc>
              <a:buFont typeface="Arial"/>
              <a:buChar char="•"/>
            </a:pPr>
            <a:r>
              <a:rPr lang="en-US" sz="3400">
                <a:solidFill>
                  <a:srgbClr val="866255"/>
                </a:solidFill>
                <a:latin typeface="Arimo"/>
                <a:ea typeface="Arimo"/>
                <a:cs typeface="Arimo"/>
                <a:sym typeface="Arimo"/>
              </a:rPr>
              <a:t>Definisikan tujuan dengan jelas dan perhatikan penggunaan tanda baca.</a:t>
            </a:r>
          </a:p>
          <a:p>
            <a:pPr algn="just" marL="734063" indent="-367031" lvl="1">
              <a:lnSpc>
                <a:spcPts val="4760"/>
              </a:lnSpc>
              <a:buFont typeface="Arial"/>
              <a:buChar char="•"/>
            </a:pPr>
            <a:r>
              <a:rPr lang="en-US" sz="3400">
                <a:solidFill>
                  <a:srgbClr val="866255"/>
                </a:solidFill>
                <a:latin typeface="Arimo"/>
                <a:ea typeface="Arimo"/>
                <a:cs typeface="Arimo"/>
                <a:sym typeface="Arimo"/>
              </a:rPr>
              <a:t>Membuat flowchart dari sistem yang akan dibuat.</a:t>
            </a:r>
          </a:p>
        </p:txBody>
      </p:sp>
      <p:sp>
        <p:nvSpPr>
          <p:cNvPr name="AutoShape 6" id="6"/>
          <p:cNvSpPr/>
          <p:nvPr/>
        </p:nvSpPr>
        <p:spPr>
          <a:xfrm>
            <a:off x="0" y="3901440"/>
            <a:ext cx="18288000" cy="0"/>
          </a:xfrm>
          <a:prstGeom prst="line">
            <a:avLst/>
          </a:prstGeom>
          <a:ln cap="flat" w="38100">
            <a:solidFill>
              <a:srgbClr val="000000"/>
            </a:solidFill>
            <a:prstDash val="solid"/>
            <a:headEnd type="none" len="sm" w="sm"/>
            <a:tailEnd type="none" len="sm" w="sm"/>
          </a:ln>
        </p:spPr>
      </p:sp>
      <p:sp>
        <p:nvSpPr>
          <p:cNvPr name="AutoShape 7" id="7"/>
          <p:cNvSpPr/>
          <p:nvPr/>
        </p:nvSpPr>
        <p:spPr>
          <a:xfrm flipV="true">
            <a:off x="0" y="7277735"/>
            <a:ext cx="18288000" cy="0"/>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423027" y="365125"/>
            <a:ext cx="5638640" cy="679450"/>
          </a:xfrm>
          <a:prstGeom prst="rect">
            <a:avLst/>
          </a:prstGeom>
        </p:spPr>
        <p:txBody>
          <a:bodyPr anchor="t" rtlCol="false" tIns="0" lIns="0" bIns="0" rIns="0">
            <a:spAutoFit/>
          </a:bodyPr>
          <a:lstStyle/>
          <a:p>
            <a:pPr algn="ctr">
              <a:lnSpc>
                <a:spcPts val="5599"/>
              </a:lnSpc>
              <a:spcBef>
                <a:spcPct val="0"/>
              </a:spcBef>
            </a:pPr>
            <a:r>
              <a:rPr lang="en-US" sz="3999">
                <a:solidFill>
                  <a:srgbClr val="F58D05"/>
                </a:solidFill>
                <a:latin typeface="League Spartan"/>
                <a:ea typeface="League Spartan"/>
                <a:cs typeface="League Spartan"/>
                <a:sym typeface="League Spartan"/>
              </a:rPr>
              <a:t>MASUKKAN SPS</a:t>
            </a:r>
          </a:p>
        </p:txBody>
      </p:sp>
      <p:sp>
        <p:nvSpPr>
          <p:cNvPr name="TextBox 9" id="9"/>
          <p:cNvSpPr txBox="true"/>
          <p:nvPr/>
        </p:nvSpPr>
        <p:spPr>
          <a:xfrm rot="0">
            <a:off x="538334" y="1529583"/>
            <a:ext cx="4853664" cy="1199515"/>
          </a:xfrm>
          <a:prstGeom prst="rect">
            <a:avLst/>
          </a:prstGeom>
        </p:spPr>
        <p:txBody>
          <a:bodyPr anchor="t" rtlCol="false" tIns="0" lIns="0" bIns="0" rIns="0">
            <a:spAutoFit/>
          </a:bodyPr>
          <a:lstStyle/>
          <a:p>
            <a:pPr algn="just">
              <a:lnSpc>
                <a:spcPts val="4760"/>
              </a:lnSpc>
            </a:pPr>
            <a:r>
              <a:rPr lang="en-US" sz="3400" b="true">
                <a:solidFill>
                  <a:srgbClr val="866255"/>
                </a:solidFill>
                <a:latin typeface="Arimo Bold"/>
                <a:ea typeface="Arimo Bold"/>
                <a:cs typeface="Arimo Bold"/>
                <a:sym typeface="Arimo Bold"/>
              </a:rPr>
              <a:t>Drs. Mulyono, M.Kom</a:t>
            </a:r>
          </a:p>
          <a:p>
            <a:pPr algn="just">
              <a:lnSpc>
                <a:spcPts val="4760"/>
              </a:lnSpc>
            </a:pPr>
          </a:p>
        </p:txBody>
      </p:sp>
      <p:sp>
        <p:nvSpPr>
          <p:cNvPr name="TextBox 10" id="10"/>
          <p:cNvSpPr txBox="true"/>
          <p:nvPr/>
        </p:nvSpPr>
        <p:spPr>
          <a:xfrm rot="0">
            <a:off x="5232813" y="673100"/>
            <a:ext cx="12543097" cy="2999740"/>
          </a:xfrm>
          <a:prstGeom prst="rect">
            <a:avLst/>
          </a:prstGeom>
        </p:spPr>
        <p:txBody>
          <a:bodyPr anchor="t" rtlCol="false" tIns="0" lIns="0" bIns="0" rIns="0">
            <a:spAutoFit/>
          </a:bodyPr>
          <a:lstStyle/>
          <a:p>
            <a:pPr algn="just" marL="734063" indent="-367031" lvl="1">
              <a:lnSpc>
                <a:spcPts val="4760"/>
              </a:lnSpc>
              <a:buFont typeface="Arial"/>
              <a:buChar char="•"/>
            </a:pPr>
            <a:r>
              <a:rPr lang="en-US" sz="3400">
                <a:solidFill>
                  <a:srgbClr val="866255"/>
                </a:solidFill>
                <a:latin typeface="Arimo"/>
                <a:ea typeface="Arimo"/>
                <a:cs typeface="Arimo"/>
                <a:sym typeface="Arimo"/>
              </a:rPr>
              <a:t>Mencari jurnal atau penelitian tambahan untuk </a:t>
            </a:r>
            <a:r>
              <a:rPr lang="en-US" sz="3400">
                <a:solidFill>
                  <a:srgbClr val="866255"/>
                </a:solidFill>
                <a:latin typeface="Arimo"/>
                <a:ea typeface="Arimo"/>
                <a:cs typeface="Arimo"/>
                <a:sym typeface="Arimo"/>
              </a:rPr>
              <a:t>referensi.</a:t>
            </a:r>
          </a:p>
          <a:p>
            <a:pPr algn="just" marL="734063" indent="-367031" lvl="1">
              <a:lnSpc>
                <a:spcPts val="4760"/>
              </a:lnSpc>
              <a:buFont typeface="Arial"/>
              <a:buChar char="•"/>
            </a:pPr>
            <a:r>
              <a:rPr lang="en-US" sz="3400">
                <a:solidFill>
                  <a:srgbClr val="866255"/>
                </a:solidFill>
                <a:latin typeface="Arimo"/>
                <a:ea typeface="Arimo"/>
                <a:cs typeface="Arimo"/>
                <a:sym typeface="Arimo"/>
              </a:rPr>
              <a:t>Bagaimana melakukan pengujiannya.</a:t>
            </a:r>
          </a:p>
          <a:p>
            <a:pPr algn="just" marL="734063" indent="-367031" lvl="1">
              <a:lnSpc>
                <a:spcPts val="4760"/>
              </a:lnSpc>
              <a:buFont typeface="Arial"/>
              <a:buChar char="•"/>
            </a:pPr>
            <a:r>
              <a:rPr lang="en-US" sz="3400">
                <a:solidFill>
                  <a:srgbClr val="866255"/>
                </a:solidFill>
                <a:latin typeface="Arimo"/>
                <a:ea typeface="Arimo"/>
                <a:cs typeface="Arimo"/>
                <a:sym typeface="Arimo"/>
              </a:rPr>
              <a:t>Batasan sesuatu yang disebut sebagai pengguna.</a:t>
            </a:r>
          </a:p>
          <a:p>
            <a:pPr algn="just" marL="734063" indent="-367031" lvl="1">
              <a:lnSpc>
                <a:spcPts val="4760"/>
              </a:lnSpc>
              <a:buFont typeface="Arial"/>
              <a:buChar char="•"/>
            </a:pPr>
            <a:r>
              <a:rPr lang="en-US" sz="3400">
                <a:solidFill>
                  <a:srgbClr val="866255"/>
                </a:solidFill>
                <a:latin typeface="Arimo"/>
                <a:ea typeface="Arimo"/>
                <a:cs typeface="Arimo"/>
                <a:sym typeface="Arimo"/>
              </a:rPr>
              <a:t>Mencari alasan yang kuat mengapa terjadi perubahan dari XML ke JSON.</a:t>
            </a:r>
          </a:p>
        </p:txBody>
      </p:sp>
      <p:sp>
        <p:nvSpPr>
          <p:cNvPr name="TextBox 11" id="11"/>
          <p:cNvSpPr txBox="true"/>
          <p:nvPr/>
        </p:nvSpPr>
        <p:spPr>
          <a:xfrm rot="0">
            <a:off x="538334" y="7992110"/>
            <a:ext cx="4853664" cy="599440"/>
          </a:xfrm>
          <a:prstGeom prst="rect">
            <a:avLst/>
          </a:prstGeom>
        </p:spPr>
        <p:txBody>
          <a:bodyPr anchor="t" rtlCol="false" tIns="0" lIns="0" bIns="0" rIns="0">
            <a:spAutoFit/>
          </a:bodyPr>
          <a:lstStyle/>
          <a:p>
            <a:pPr algn="just">
              <a:lnSpc>
                <a:spcPts val="4760"/>
              </a:lnSpc>
            </a:pPr>
            <a:r>
              <a:rPr lang="en-US" b="true" sz="3400">
                <a:solidFill>
                  <a:srgbClr val="866255"/>
                </a:solidFill>
                <a:latin typeface="Arimo Bold"/>
                <a:ea typeface="Arimo Bold"/>
                <a:cs typeface="Arimo Bold"/>
                <a:sym typeface="Arimo Bold"/>
              </a:rPr>
              <a:t>Ari Hendarno, M.Kom</a:t>
            </a:r>
          </a:p>
        </p:txBody>
      </p:sp>
      <p:sp>
        <p:nvSpPr>
          <p:cNvPr name="TextBox 12" id="12"/>
          <p:cNvSpPr txBox="true"/>
          <p:nvPr/>
        </p:nvSpPr>
        <p:spPr>
          <a:xfrm rot="0">
            <a:off x="5201498" y="7382510"/>
            <a:ext cx="12543097" cy="2399665"/>
          </a:xfrm>
          <a:prstGeom prst="rect">
            <a:avLst/>
          </a:prstGeom>
        </p:spPr>
        <p:txBody>
          <a:bodyPr anchor="t" rtlCol="false" tIns="0" lIns="0" bIns="0" rIns="0">
            <a:spAutoFit/>
          </a:bodyPr>
          <a:lstStyle/>
          <a:p>
            <a:pPr algn="just" marL="734063" indent="-367031" lvl="1">
              <a:lnSpc>
                <a:spcPts val="4760"/>
              </a:lnSpc>
              <a:buFont typeface="Arial"/>
              <a:buChar char="•"/>
            </a:pPr>
            <a:r>
              <a:rPr lang="en-US" sz="3400">
                <a:solidFill>
                  <a:srgbClr val="866255"/>
                </a:solidFill>
                <a:latin typeface="Arimo"/>
                <a:ea typeface="Arimo"/>
                <a:cs typeface="Arimo"/>
                <a:sym typeface="Arimo"/>
              </a:rPr>
              <a:t>Tujuan penelitian langsung fokus ke tujuannya </a:t>
            </a:r>
            <a:r>
              <a:rPr lang="en-US" sz="3400">
                <a:solidFill>
                  <a:srgbClr val="866255"/>
                </a:solidFill>
                <a:latin typeface="Arimo"/>
                <a:ea typeface="Arimo"/>
                <a:cs typeface="Arimo"/>
                <a:sym typeface="Arimo"/>
              </a:rPr>
              <a:t>middleware.</a:t>
            </a:r>
          </a:p>
          <a:p>
            <a:pPr algn="just" marL="734063" indent="-367031" lvl="1">
              <a:lnSpc>
                <a:spcPts val="4760"/>
              </a:lnSpc>
              <a:buFont typeface="Arial"/>
              <a:buChar char="•"/>
            </a:pPr>
            <a:r>
              <a:rPr lang="en-US" sz="3400">
                <a:solidFill>
                  <a:srgbClr val="866255"/>
                </a:solidFill>
                <a:latin typeface="Arimo"/>
                <a:ea typeface="Arimo"/>
                <a:cs typeface="Arimo"/>
                <a:sym typeface="Arimo"/>
              </a:rPr>
              <a:t>Menambahkan batasan masalah.</a:t>
            </a:r>
          </a:p>
          <a:p>
            <a:pPr algn="just" marL="734063" indent="-367031" lvl="1">
              <a:lnSpc>
                <a:spcPts val="4760"/>
              </a:lnSpc>
              <a:buFont typeface="Arial"/>
              <a:buChar char="•"/>
            </a:pPr>
            <a:r>
              <a:rPr lang="en-US" sz="3400">
                <a:solidFill>
                  <a:srgbClr val="866255"/>
                </a:solidFill>
                <a:latin typeface="Arimo"/>
                <a:ea typeface="Arimo"/>
                <a:cs typeface="Arimo"/>
                <a:sym typeface="Arimo"/>
              </a:rPr>
              <a:t>Perhatikan pemilihan diksi.</a:t>
            </a:r>
          </a:p>
          <a:p>
            <a:pPr algn="just" marL="734063" indent="-367031" lvl="1">
              <a:lnSpc>
                <a:spcPts val="4760"/>
              </a:lnSpc>
              <a:buFont typeface="Arial"/>
              <a:buChar char="•"/>
            </a:pPr>
            <a:r>
              <a:rPr lang="en-US" sz="3400">
                <a:solidFill>
                  <a:srgbClr val="866255"/>
                </a:solidFill>
                <a:latin typeface="Arimo"/>
                <a:ea typeface="Arimo"/>
                <a:cs typeface="Arimo"/>
                <a:sym typeface="Arimo"/>
              </a:rPr>
              <a:t>Enkripsi end-to-end.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5790947" y="-2365717"/>
            <a:ext cx="17219666" cy="14026201"/>
          </a:xfrm>
          <a:custGeom>
            <a:avLst/>
            <a:gdLst/>
            <a:ahLst/>
            <a:cxnLst/>
            <a:rect r="r" b="b" t="t" l="l"/>
            <a:pathLst>
              <a:path h="14026201" w="17219666">
                <a:moveTo>
                  <a:pt x="0" y="14026201"/>
                </a:moveTo>
                <a:lnTo>
                  <a:pt x="17219666" y="14026201"/>
                </a:lnTo>
                <a:lnTo>
                  <a:pt x="17219666"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713744"/>
            <a:ext cx="6513958" cy="2573762"/>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BAB 1</a:t>
            </a:r>
          </a:p>
        </p:txBody>
      </p:sp>
      <p:sp>
        <p:nvSpPr>
          <p:cNvPr name="Freeform 4" id="4"/>
          <p:cNvSpPr/>
          <p:nvPr/>
        </p:nvSpPr>
        <p:spPr>
          <a:xfrm flipH="false" flipV="false" rot="0">
            <a:off x="12943053" y="3223583"/>
            <a:ext cx="5344947" cy="7063417"/>
          </a:xfrm>
          <a:custGeom>
            <a:avLst/>
            <a:gdLst/>
            <a:ahLst/>
            <a:cxnLst/>
            <a:rect r="r" b="b" t="t" l="l"/>
            <a:pathLst>
              <a:path h="7063417" w="5344947">
                <a:moveTo>
                  <a:pt x="0" y="0"/>
                </a:moveTo>
                <a:lnTo>
                  <a:pt x="5344947" y="0"/>
                </a:lnTo>
                <a:lnTo>
                  <a:pt x="5344947" y="7063417"/>
                </a:lnTo>
                <a:lnTo>
                  <a:pt x="0" y="70634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8952834" y="417069"/>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537095" y="2345110"/>
            <a:ext cx="9586240" cy="10668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Mengembangkan aplikasi membutuhkan waktu, tenaga, dan biaya.</a:t>
            </a:r>
          </a:p>
        </p:txBody>
      </p:sp>
      <p:sp>
        <p:nvSpPr>
          <p:cNvPr name="Freeform 4" id="4"/>
          <p:cNvSpPr/>
          <p:nvPr/>
        </p:nvSpPr>
        <p:spPr>
          <a:xfrm flipH="false" flipV="false" rot="0">
            <a:off x="457653" y="3660851"/>
            <a:ext cx="5275129" cy="3769319"/>
          </a:xfrm>
          <a:custGeom>
            <a:avLst/>
            <a:gdLst/>
            <a:ahLst/>
            <a:cxnLst/>
            <a:rect r="r" b="b" t="t" l="l"/>
            <a:pathLst>
              <a:path h="3769319" w="5275129">
                <a:moveTo>
                  <a:pt x="0" y="0"/>
                </a:moveTo>
                <a:lnTo>
                  <a:pt x="5275128" y="0"/>
                </a:lnTo>
                <a:lnTo>
                  <a:pt x="5275128" y="3769319"/>
                </a:lnTo>
                <a:lnTo>
                  <a:pt x="0" y="37693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8059959" y="885825"/>
            <a:ext cx="8540511"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Latar Belakang</a:t>
            </a:r>
          </a:p>
        </p:txBody>
      </p:sp>
      <p:sp>
        <p:nvSpPr>
          <p:cNvPr name="TextBox 6" id="6"/>
          <p:cNvSpPr txBox="true"/>
          <p:nvPr/>
        </p:nvSpPr>
        <p:spPr>
          <a:xfrm rot="0">
            <a:off x="7537095" y="3535735"/>
            <a:ext cx="9586240" cy="10668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Middleware komunikasi membutuhkan format atau protokol yang konsisten untuk membuatnya.</a:t>
            </a:r>
          </a:p>
        </p:txBody>
      </p:sp>
      <p:sp>
        <p:nvSpPr>
          <p:cNvPr name="TextBox 7" id="7"/>
          <p:cNvSpPr txBox="true"/>
          <p:nvPr/>
        </p:nvSpPr>
        <p:spPr>
          <a:xfrm rot="0">
            <a:off x="7537095" y="4726360"/>
            <a:ext cx="9586240" cy="5334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XMPP menggunakan tipe koneksi TCP.</a:t>
            </a:r>
          </a:p>
        </p:txBody>
      </p:sp>
      <p:sp>
        <p:nvSpPr>
          <p:cNvPr name="TextBox 8" id="8"/>
          <p:cNvSpPr txBox="true"/>
          <p:nvPr/>
        </p:nvSpPr>
        <p:spPr>
          <a:xfrm rot="0">
            <a:off x="7537095" y="5383585"/>
            <a:ext cx="9586240" cy="21336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XMPP menggunakan format data XML dan arsitektur monolith, yang mana ada inovasi teknologi terbaru untuk keduanya, yaitu JSON dan arsitektur microservice.</a:t>
            </a:r>
          </a:p>
        </p:txBody>
      </p:sp>
      <p:sp>
        <p:nvSpPr>
          <p:cNvPr name="TextBox 9" id="9"/>
          <p:cNvSpPr txBox="true"/>
          <p:nvPr/>
        </p:nvSpPr>
        <p:spPr>
          <a:xfrm rot="0">
            <a:off x="7537095" y="7641010"/>
            <a:ext cx="9586240" cy="5334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RFC 6120 dan RFC 6121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35787" y="885825"/>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Rumusan Masalah</a:t>
            </a:r>
          </a:p>
        </p:txBody>
      </p:sp>
      <p:sp>
        <p:nvSpPr>
          <p:cNvPr name="Freeform 3" id="3"/>
          <p:cNvSpPr/>
          <p:nvPr/>
        </p:nvSpPr>
        <p:spPr>
          <a:xfrm flipH="false" flipV="true" rot="-1449686">
            <a:off x="-8998541" y="-12611241"/>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449686">
            <a:off x="13620629" y="-8038281"/>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814830" y="547680"/>
            <a:ext cx="1954659" cy="2735528"/>
          </a:xfrm>
          <a:custGeom>
            <a:avLst/>
            <a:gdLst/>
            <a:ahLst/>
            <a:cxnLst/>
            <a:rect r="r" b="b" t="t" l="l"/>
            <a:pathLst>
              <a:path h="2735528" w="1954659">
                <a:moveTo>
                  <a:pt x="0" y="0"/>
                </a:moveTo>
                <a:lnTo>
                  <a:pt x="1954659" y="0"/>
                </a:lnTo>
                <a:lnTo>
                  <a:pt x="1954659" y="2735529"/>
                </a:lnTo>
                <a:lnTo>
                  <a:pt x="0" y="27355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4534837" y="2546277"/>
            <a:ext cx="1233504" cy="930985"/>
            <a:chOff x="0" y="0"/>
            <a:chExt cx="324873" cy="245198"/>
          </a:xfrm>
        </p:grpSpPr>
        <p:sp>
          <p:nvSpPr>
            <p:cNvPr name="Freeform 7" id="7"/>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F3BBC1"/>
            </a:solidFill>
          </p:spPr>
        </p:sp>
        <p:sp>
          <p:nvSpPr>
            <p:cNvPr name="TextBox 8" id="8"/>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1</a:t>
              </a:r>
            </a:p>
          </p:txBody>
        </p:sp>
      </p:grpSp>
      <p:grpSp>
        <p:nvGrpSpPr>
          <p:cNvPr name="Group 9" id="9"/>
          <p:cNvGrpSpPr/>
          <p:nvPr/>
        </p:nvGrpSpPr>
        <p:grpSpPr>
          <a:xfrm rot="0">
            <a:off x="9720642" y="3972563"/>
            <a:ext cx="1233504" cy="930985"/>
            <a:chOff x="0" y="0"/>
            <a:chExt cx="324873" cy="245198"/>
          </a:xfrm>
        </p:grpSpPr>
        <p:sp>
          <p:nvSpPr>
            <p:cNvPr name="Freeform 10" id="10"/>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F3BBC1"/>
            </a:solidFill>
          </p:spPr>
        </p:sp>
        <p:sp>
          <p:nvSpPr>
            <p:cNvPr name="TextBox 11" id="11"/>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2</a:t>
              </a:r>
            </a:p>
          </p:txBody>
        </p:sp>
      </p:grpSp>
      <p:sp>
        <p:nvSpPr>
          <p:cNvPr name="Freeform 12" id="12"/>
          <p:cNvSpPr/>
          <p:nvPr/>
        </p:nvSpPr>
        <p:spPr>
          <a:xfrm flipH="true" flipV="false" rot="0">
            <a:off x="343859" y="6391913"/>
            <a:ext cx="4807729" cy="4114800"/>
          </a:xfrm>
          <a:custGeom>
            <a:avLst/>
            <a:gdLst/>
            <a:ahLst/>
            <a:cxnLst/>
            <a:rect r="r" b="b" t="t" l="l"/>
            <a:pathLst>
              <a:path h="4114800" w="4807729">
                <a:moveTo>
                  <a:pt x="4807729" y="0"/>
                </a:moveTo>
                <a:lnTo>
                  <a:pt x="0" y="0"/>
                </a:lnTo>
                <a:lnTo>
                  <a:pt x="0" y="4114800"/>
                </a:lnTo>
                <a:lnTo>
                  <a:pt x="4807729" y="4114800"/>
                </a:lnTo>
                <a:lnTo>
                  <a:pt x="480772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1028700" y="3401063"/>
            <a:ext cx="9586240" cy="10668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Bagaimana cara membuat middleware komunikasi menggunakan XMPP dan socket programming?</a:t>
            </a:r>
          </a:p>
        </p:txBody>
      </p:sp>
      <p:sp>
        <p:nvSpPr>
          <p:cNvPr name="TextBox 14" id="14"/>
          <p:cNvSpPr txBox="true"/>
          <p:nvPr/>
        </p:nvSpPr>
        <p:spPr>
          <a:xfrm rot="0">
            <a:off x="5544273" y="4827348"/>
            <a:ext cx="9586240" cy="10668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Bagaimana cara mengubah arsitektur monolith menjadi microservice?</a:t>
            </a:r>
          </a:p>
        </p:txBody>
      </p:sp>
      <p:sp>
        <p:nvSpPr>
          <p:cNvPr name="TextBox 15" id="15"/>
          <p:cNvSpPr txBox="true"/>
          <p:nvPr/>
        </p:nvSpPr>
        <p:spPr>
          <a:xfrm rot="0">
            <a:off x="6109481" y="7008573"/>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Tujuan Penelitian</a:t>
            </a:r>
          </a:p>
        </p:txBody>
      </p:sp>
      <p:sp>
        <p:nvSpPr>
          <p:cNvPr name="TextBox 16" id="16"/>
          <p:cNvSpPr txBox="true"/>
          <p:nvPr/>
        </p:nvSpPr>
        <p:spPr>
          <a:xfrm rot="0">
            <a:off x="4534837" y="8653032"/>
            <a:ext cx="13265289" cy="10668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Membuat middleware komunikasi menggunakan XMPP dan arsitektur microservice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717282">
            <a:off x="-8992797" y="7931190"/>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21856" y="2833010"/>
            <a:ext cx="1233504" cy="930985"/>
            <a:chOff x="0" y="0"/>
            <a:chExt cx="324873" cy="245198"/>
          </a:xfrm>
        </p:grpSpPr>
        <p:sp>
          <p:nvSpPr>
            <p:cNvPr name="Freeform 4" id="4"/>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F26B6D"/>
            </a:solidFill>
          </p:spPr>
        </p:sp>
        <p:sp>
          <p:nvSpPr>
            <p:cNvPr name="TextBox 5" id="5"/>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1</a:t>
              </a:r>
            </a:p>
          </p:txBody>
        </p:sp>
      </p:grpSp>
      <p:grpSp>
        <p:nvGrpSpPr>
          <p:cNvPr name="Group 6" id="6"/>
          <p:cNvGrpSpPr/>
          <p:nvPr/>
        </p:nvGrpSpPr>
        <p:grpSpPr>
          <a:xfrm rot="0">
            <a:off x="12830970" y="2833010"/>
            <a:ext cx="1233504" cy="930985"/>
            <a:chOff x="0" y="0"/>
            <a:chExt cx="324873" cy="245198"/>
          </a:xfrm>
        </p:grpSpPr>
        <p:sp>
          <p:nvSpPr>
            <p:cNvPr name="Freeform 7" id="7"/>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F26B6D"/>
            </a:solidFill>
          </p:spPr>
        </p:sp>
        <p:sp>
          <p:nvSpPr>
            <p:cNvPr name="TextBox 8" id="8"/>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2</a:t>
              </a:r>
            </a:p>
          </p:txBody>
        </p:sp>
      </p:grpSp>
      <p:sp>
        <p:nvSpPr>
          <p:cNvPr name="TextBox 9" id="9"/>
          <p:cNvSpPr txBox="true"/>
          <p:nvPr/>
        </p:nvSpPr>
        <p:spPr>
          <a:xfrm rot="0">
            <a:off x="3535787" y="885825"/>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Batasan Masalah</a:t>
            </a:r>
          </a:p>
        </p:txBody>
      </p:sp>
      <p:sp>
        <p:nvSpPr>
          <p:cNvPr name="TextBox 10" id="10"/>
          <p:cNvSpPr txBox="true"/>
          <p:nvPr/>
        </p:nvSpPr>
        <p:spPr>
          <a:xfrm rot="0">
            <a:off x="1028700" y="3881772"/>
            <a:ext cx="6253320" cy="16002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Penelitian hanya akan berfokus kepada pembuatan middleware komunikasi.</a:t>
            </a:r>
          </a:p>
        </p:txBody>
      </p:sp>
      <p:sp>
        <p:nvSpPr>
          <p:cNvPr name="TextBox 11" id="11"/>
          <p:cNvSpPr txBox="true"/>
          <p:nvPr/>
        </p:nvSpPr>
        <p:spPr>
          <a:xfrm rot="0">
            <a:off x="10321062" y="3881772"/>
            <a:ext cx="6253320" cy="10668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Penelitian tidak akan membahas topik keamanan data.</a:t>
            </a:r>
          </a:p>
        </p:txBody>
      </p:sp>
      <p:grpSp>
        <p:nvGrpSpPr>
          <p:cNvPr name="Group 12" id="12"/>
          <p:cNvGrpSpPr/>
          <p:nvPr/>
        </p:nvGrpSpPr>
        <p:grpSpPr>
          <a:xfrm rot="0">
            <a:off x="8306509" y="5824306"/>
            <a:ext cx="1233504" cy="930985"/>
            <a:chOff x="0" y="0"/>
            <a:chExt cx="324873" cy="245198"/>
          </a:xfrm>
        </p:grpSpPr>
        <p:sp>
          <p:nvSpPr>
            <p:cNvPr name="Freeform 13" id="13"/>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F26B6D"/>
            </a:solidFill>
          </p:spPr>
        </p:sp>
        <p:sp>
          <p:nvSpPr>
            <p:cNvPr name="TextBox 14" id="14"/>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3</a:t>
              </a:r>
            </a:p>
          </p:txBody>
        </p:sp>
      </p:grpSp>
      <p:sp>
        <p:nvSpPr>
          <p:cNvPr name="TextBox 15" id="15"/>
          <p:cNvSpPr txBox="true"/>
          <p:nvPr/>
        </p:nvSpPr>
        <p:spPr>
          <a:xfrm rot="0">
            <a:off x="4895840" y="6964842"/>
            <a:ext cx="9014223" cy="10668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Pengujian pada penelitian akan berfokus pada pengujian fungsionalitas dari middleware komunikasi.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5790947" y="-2365717"/>
            <a:ext cx="17219666" cy="14026201"/>
          </a:xfrm>
          <a:custGeom>
            <a:avLst/>
            <a:gdLst/>
            <a:ahLst/>
            <a:cxnLst/>
            <a:rect r="r" b="b" t="t" l="l"/>
            <a:pathLst>
              <a:path h="14026201" w="17219666">
                <a:moveTo>
                  <a:pt x="0" y="14026201"/>
                </a:moveTo>
                <a:lnTo>
                  <a:pt x="17219666" y="14026201"/>
                </a:lnTo>
                <a:lnTo>
                  <a:pt x="17219666"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775046" y="1348595"/>
            <a:ext cx="8427229" cy="8827061"/>
          </a:xfrm>
          <a:custGeom>
            <a:avLst/>
            <a:gdLst/>
            <a:ahLst/>
            <a:cxnLst/>
            <a:rect r="r" b="b" t="t" l="l"/>
            <a:pathLst>
              <a:path h="8827061" w="8427229">
                <a:moveTo>
                  <a:pt x="0" y="0"/>
                </a:moveTo>
                <a:lnTo>
                  <a:pt x="8427229" y="0"/>
                </a:lnTo>
                <a:lnTo>
                  <a:pt x="8427229" y="8827061"/>
                </a:lnTo>
                <a:lnTo>
                  <a:pt x="0" y="88270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713744"/>
            <a:ext cx="6513958" cy="2573762"/>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BAB 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80129" y="1426297"/>
            <a:ext cx="15002344" cy="16002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Extensible Messaging Presence And Protocol (XMPP) adalah teknologi terbuka untuk komunikasi secara real-time, menggunakan Extensible Markup Language (XML) sebagai format dasar untuk pertukaran informasi.</a:t>
            </a:r>
          </a:p>
        </p:txBody>
      </p:sp>
      <p:sp>
        <p:nvSpPr>
          <p:cNvPr name="TextBox 3" id="3"/>
          <p:cNvSpPr txBox="true"/>
          <p:nvPr/>
        </p:nvSpPr>
        <p:spPr>
          <a:xfrm rot="0">
            <a:off x="1677299" y="3936705"/>
            <a:ext cx="4114339" cy="16002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Channel Encryption</a:t>
            </a:r>
          </a:p>
          <a:p>
            <a:pPr algn="just" marL="647700" indent="-323850" lvl="1">
              <a:lnSpc>
                <a:spcPts val="4200"/>
              </a:lnSpc>
              <a:buFont typeface="Arial"/>
              <a:buChar char="•"/>
            </a:pPr>
            <a:r>
              <a:rPr lang="en-US" sz="3000">
                <a:solidFill>
                  <a:srgbClr val="866255"/>
                </a:solidFill>
                <a:latin typeface="Arimo"/>
                <a:ea typeface="Arimo"/>
                <a:cs typeface="Arimo"/>
                <a:sym typeface="Arimo"/>
              </a:rPr>
              <a:t>Authentication</a:t>
            </a:r>
          </a:p>
          <a:p>
            <a:pPr algn="just" marL="647700" indent="-323850" lvl="1">
              <a:lnSpc>
                <a:spcPts val="4200"/>
              </a:lnSpc>
              <a:buFont typeface="Arial"/>
              <a:buChar char="•"/>
            </a:pPr>
            <a:r>
              <a:rPr lang="en-US" sz="3000">
                <a:solidFill>
                  <a:srgbClr val="866255"/>
                </a:solidFill>
                <a:latin typeface="Arimo"/>
                <a:ea typeface="Arimo"/>
                <a:cs typeface="Arimo"/>
                <a:sym typeface="Arimo"/>
              </a:rPr>
              <a:t>Presence</a:t>
            </a:r>
          </a:p>
        </p:txBody>
      </p:sp>
      <p:sp>
        <p:nvSpPr>
          <p:cNvPr name="TextBox 4" id="4"/>
          <p:cNvSpPr txBox="true"/>
          <p:nvPr/>
        </p:nvSpPr>
        <p:spPr>
          <a:xfrm rot="0">
            <a:off x="-2682918" y="361292"/>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XMPP</a:t>
            </a:r>
          </a:p>
        </p:txBody>
      </p:sp>
      <p:sp>
        <p:nvSpPr>
          <p:cNvPr name="Freeform 5" id="5"/>
          <p:cNvSpPr/>
          <p:nvPr/>
        </p:nvSpPr>
        <p:spPr>
          <a:xfrm flipH="false" flipV="false" rot="0">
            <a:off x="12781661" y="3223583"/>
            <a:ext cx="5344947" cy="7063417"/>
          </a:xfrm>
          <a:custGeom>
            <a:avLst/>
            <a:gdLst/>
            <a:ahLst/>
            <a:cxnLst/>
            <a:rect r="r" b="b" t="t" l="l"/>
            <a:pathLst>
              <a:path h="7063417" w="5344947">
                <a:moveTo>
                  <a:pt x="0" y="0"/>
                </a:moveTo>
                <a:lnTo>
                  <a:pt x="5344947" y="0"/>
                </a:lnTo>
                <a:lnTo>
                  <a:pt x="5344947" y="7063417"/>
                </a:lnTo>
                <a:lnTo>
                  <a:pt x="0" y="70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44356" y="8363680"/>
            <a:ext cx="1298012" cy="1789240"/>
          </a:xfrm>
          <a:custGeom>
            <a:avLst/>
            <a:gdLst/>
            <a:ahLst/>
            <a:cxnLst/>
            <a:rect r="r" b="b" t="t" l="l"/>
            <a:pathLst>
              <a:path h="1789240" w="1298012">
                <a:moveTo>
                  <a:pt x="0" y="0"/>
                </a:moveTo>
                <a:lnTo>
                  <a:pt x="1298013" y="0"/>
                </a:lnTo>
                <a:lnTo>
                  <a:pt x="1298013" y="1789240"/>
                </a:lnTo>
                <a:lnTo>
                  <a:pt x="0" y="1789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03750">
            <a:off x="1758147" y="8363680"/>
            <a:ext cx="1298012" cy="1789240"/>
          </a:xfrm>
          <a:custGeom>
            <a:avLst/>
            <a:gdLst/>
            <a:ahLst/>
            <a:cxnLst/>
            <a:rect r="r" b="b" t="t" l="l"/>
            <a:pathLst>
              <a:path h="1789240" w="1298012">
                <a:moveTo>
                  <a:pt x="0" y="0"/>
                </a:moveTo>
                <a:lnTo>
                  <a:pt x="1298012" y="0"/>
                </a:lnTo>
                <a:lnTo>
                  <a:pt x="1298012" y="1789240"/>
                </a:lnTo>
                <a:lnTo>
                  <a:pt x="0" y="1789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1449686">
            <a:off x="-13957928" y="-4847037"/>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13870" y="3168355"/>
            <a:ext cx="11313819" cy="863600"/>
          </a:xfrm>
          <a:prstGeom prst="rect">
            <a:avLst/>
          </a:prstGeom>
        </p:spPr>
        <p:txBody>
          <a:bodyPr anchor="t" rtlCol="false" tIns="0" lIns="0" bIns="0" rIns="0">
            <a:spAutoFit/>
          </a:bodyPr>
          <a:lstStyle/>
          <a:p>
            <a:pPr algn="ctr">
              <a:lnSpc>
                <a:spcPts val="7000"/>
              </a:lnSpc>
              <a:spcBef>
                <a:spcPct val="0"/>
              </a:spcBef>
            </a:pPr>
            <a:r>
              <a:rPr lang="en-US" sz="5000">
                <a:solidFill>
                  <a:srgbClr val="F58D05"/>
                </a:solidFill>
                <a:latin typeface="League Spartan"/>
                <a:ea typeface="League Spartan"/>
                <a:cs typeface="League Spartan"/>
                <a:sym typeface="League Spartan"/>
              </a:rPr>
              <a:t>SERVICE MINIMUM</a:t>
            </a:r>
          </a:p>
        </p:txBody>
      </p:sp>
      <p:sp>
        <p:nvSpPr>
          <p:cNvPr name="TextBox 10" id="10"/>
          <p:cNvSpPr txBox="true"/>
          <p:nvPr/>
        </p:nvSpPr>
        <p:spPr>
          <a:xfrm rot="0">
            <a:off x="5791638" y="3936705"/>
            <a:ext cx="5008310" cy="10668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Contact List (Roster)</a:t>
            </a:r>
          </a:p>
          <a:p>
            <a:pPr algn="just" marL="647700" indent="-323850" lvl="1">
              <a:lnSpc>
                <a:spcPts val="4200"/>
              </a:lnSpc>
              <a:buFont typeface="Arial"/>
              <a:buChar char="•"/>
            </a:pPr>
            <a:r>
              <a:rPr lang="en-US" sz="3000">
                <a:solidFill>
                  <a:srgbClr val="866255"/>
                </a:solidFill>
                <a:latin typeface="Arimo"/>
                <a:ea typeface="Arimo"/>
                <a:cs typeface="Arimo"/>
                <a:sym typeface="Arimo"/>
              </a:rPr>
              <a:t>One-to-one Messsaging</a:t>
            </a:r>
          </a:p>
        </p:txBody>
      </p:sp>
      <p:sp>
        <p:nvSpPr>
          <p:cNvPr name="TextBox 11" id="11"/>
          <p:cNvSpPr txBox="true"/>
          <p:nvPr/>
        </p:nvSpPr>
        <p:spPr>
          <a:xfrm rot="0">
            <a:off x="1028700" y="5470230"/>
            <a:ext cx="11313819" cy="863600"/>
          </a:xfrm>
          <a:prstGeom prst="rect">
            <a:avLst/>
          </a:prstGeom>
        </p:spPr>
        <p:txBody>
          <a:bodyPr anchor="t" rtlCol="false" tIns="0" lIns="0" bIns="0" rIns="0">
            <a:spAutoFit/>
          </a:bodyPr>
          <a:lstStyle/>
          <a:p>
            <a:pPr algn="ctr">
              <a:lnSpc>
                <a:spcPts val="7000"/>
              </a:lnSpc>
              <a:spcBef>
                <a:spcPct val="0"/>
              </a:spcBef>
            </a:pPr>
            <a:r>
              <a:rPr lang="en-US" sz="5000">
                <a:solidFill>
                  <a:srgbClr val="F58D05"/>
                </a:solidFill>
                <a:latin typeface="League Spartan"/>
                <a:ea typeface="League Spartan"/>
                <a:cs typeface="League Spartan"/>
                <a:sym typeface="League Spartan"/>
              </a:rPr>
              <a:t>ARSITEKTUR</a:t>
            </a:r>
          </a:p>
        </p:txBody>
      </p:sp>
      <p:sp>
        <p:nvSpPr>
          <p:cNvPr name="TextBox 12" id="12"/>
          <p:cNvSpPr txBox="true"/>
          <p:nvPr/>
        </p:nvSpPr>
        <p:spPr>
          <a:xfrm rot="0">
            <a:off x="4307167" y="6257630"/>
            <a:ext cx="9112073" cy="32004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Mendapatkan alamat sesuai DNS.</a:t>
            </a:r>
          </a:p>
          <a:p>
            <a:pPr algn="just" marL="647700" indent="-323850" lvl="1">
              <a:lnSpc>
                <a:spcPts val="4200"/>
              </a:lnSpc>
              <a:buFont typeface="Arial"/>
              <a:buChar char="•"/>
            </a:pPr>
            <a:r>
              <a:rPr lang="en-US" sz="3000">
                <a:solidFill>
                  <a:srgbClr val="866255"/>
                </a:solidFill>
                <a:latin typeface="Arimo"/>
                <a:ea typeface="Arimo"/>
                <a:cs typeface="Arimo"/>
                <a:sym typeface="Arimo"/>
              </a:rPr>
              <a:t>Presence-aware client dan server.</a:t>
            </a:r>
          </a:p>
          <a:p>
            <a:pPr algn="just" marL="647700" indent="-323850" lvl="1">
              <a:lnSpc>
                <a:spcPts val="4200"/>
              </a:lnSpc>
              <a:buFont typeface="Arial"/>
              <a:buChar char="•"/>
            </a:pPr>
            <a:r>
              <a:rPr lang="en-US" sz="3000">
                <a:solidFill>
                  <a:srgbClr val="866255"/>
                </a:solidFill>
                <a:latin typeface="Arimo"/>
                <a:ea typeface="Arimo"/>
                <a:cs typeface="Arimo"/>
                <a:sym typeface="Arimo"/>
              </a:rPr>
              <a:t>Pertukaran data secara langsung end-to-end.</a:t>
            </a:r>
          </a:p>
          <a:p>
            <a:pPr algn="just" marL="647700" indent="-323850" lvl="1">
              <a:lnSpc>
                <a:spcPts val="4200"/>
              </a:lnSpc>
              <a:buFont typeface="Arial"/>
              <a:buChar char="•"/>
            </a:pPr>
            <a:r>
              <a:rPr lang="en-US" sz="3000">
                <a:solidFill>
                  <a:srgbClr val="866255"/>
                </a:solidFill>
                <a:latin typeface="Arimo"/>
                <a:ea typeface="Arimo"/>
                <a:cs typeface="Arimo"/>
                <a:sym typeface="Arimo"/>
              </a:rPr>
              <a:t>Tipe koneksi long-lived TCP.</a:t>
            </a:r>
          </a:p>
          <a:p>
            <a:pPr algn="just" marL="647700" indent="-323850" lvl="1">
              <a:lnSpc>
                <a:spcPts val="4200"/>
              </a:lnSpc>
              <a:buFont typeface="Arial"/>
              <a:buChar char="•"/>
            </a:pPr>
            <a:r>
              <a:rPr lang="en-US" sz="3000">
                <a:solidFill>
                  <a:srgbClr val="866255"/>
                </a:solidFill>
                <a:latin typeface="Arimo"/>
                <a:ea typeface="Arimo"/>
                <a:cs typeface="Arimo"/>
                <a:sym typeface="Arimo"/>
              </a:rPr>
              <a:t>Protokol dasar pertukaran data adalah XML, yang disebut stanza.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32737" y="4538285"/>
            <a:ext cx="6516887" cy="16002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Arsitektur program yang membangun aplikasi dalam kesatuan yang mandiri dan independen.</a:t>
            </a:r>
          </a:p>
        </p:txBody>
      </p:sp>
      <p:sp>
        <p:nvSpPr>
          <p:cNvPr name="TextBox 3" id="3"/>
          <p:cNvSpPr txBox="true"/>
          <p:nvPr/>
        </p:nvSpPr>
        <p:spPr>
          <a:xfrm rot="0">
            <a:off x="1028700" y="3278463"/>
            <a:ext cx="6574130"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Monolitik</a:t>
            </a:r>
          </a:p>
        </p:txBody>
      </p:sp>
      <p:sp>
        <p:nvSpPr>
          <p:cNvPr name="Freeform 4" id="4"/>
          <p:cNvSpPr/>
          <p:nvPr/>
        </p:nvSpPr>
        <p:spPr>
          <a:xfrm flipH="false" flipV="true" rot="-1449686">
            <a:off x="-13957928" y="-4847037"/>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2602619" y="938489"/>
            <a:ext cx="4134112" cy="863600"/>
          </a:xfrm>
          <a:prstGeom prst="rect">
            <a:avLst/>
          </a:prstGeom>
        </p:spPr>
        <p:txBody>
          <a:bodyPr anchor="t" rtlCol="false" tIns="0" lIns="0" bIns="0" rIns="0">
            <a:spAutoFit/>
          </a:bodyPr>
          <a:lstStyle/>
          <a:p>
            <a:pPr algn="ctr">
              <a:lnSpc>
                <a:spcPts val="7000"/>
              </a:lnSpc>
              <a:spcBef>
                <a:spcPct val="0"/>
              </a:spcBef>
            </a:pPr>
            <a:r>
              <a:rPr lang="en-US" sz="5000">
                <a:solidFill>
                  <a:srgbClr val="F58D05"/>
                </a:solidFill>
                <a:latin typeface="League Spartan"/>
                <a:ea typeface="League Spartan"/>
                <a:cs typeface="League Spartan"/>
                <a:sym typeface="League Spartan"/>
              </a:rPr>
              <a:t>KELEBIHAN</a:t>
            </a:r>
          </a:p>
        </p:txBody>
      </p:sp>
      <p:sp>
        <p:nvSpPr>
          <p:cNvPr name="TextBox 6" id="6"/>
          <p:cNvSpPr txBox="true"/>
          <p:nvPr/>
        </p:nvSpPr>
        <p:spPr>
          <a:xfrm rot="0">
            <a:off x="8135374" y="1725888"/>
            <a:ext cx="9166472" cy="16002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Penerapan yang mudah dan hanya memerlukan satu basis kode.</a:t>
            </a:r>
          </a:p>
          <a:p>
            <a:pPr algn="just" marL="647700" indent="-323850" lvl="1">
              <a:lnSpc>
                <a:spcPts val="4200"/>
              </a:lnSpc>
              <a:buFont typeface="Arial"/>
              <a:buChar char="•"/>
            </a:pPr>
            <a:r>
              <a:rPr lang="en-US" sz="3000">
                <a:solidFill>
                  <a:srgbClr val="866255"/>
                </a:solidFill>
                <a:latin typeface="Arimo"/>
                <a:ea typeface="Arimo"/>
                <a:cs typeface="Arimo"/>
                <a:sym typeface="Arimo"/>
              </a:rPr>
              <a:t>Mudah untuk debugging.</a:t>
            </a:r>
          </a:p>
        </p:txBody>
      </p:sp>
      <p:sp>
        <p:nvSpPr>
          <p:cNvPr name="TextBox 7" id="7"/>
          <p:cNvSpPr txBox="true"/>
          <p:nvPr/>
        </p:nvSpPr>
        <p:spPr>
          <a:xfrm rot="0">
            <a:off x="11652774" y="3897313"/>
            <a:ext cx="5083956" cy="863600"/>
          </a:xfrm>
          <a:prstGeom prst="rect">
            <a:avLst/>
          </a:prstGeom>
        </p:spPr>
        <p:txBody>
          <a:bodyPr anchor="t" rtlCol="false" tIns="0" lIns="0" bIns="0" rIns="0">
            <a:spAutoFit/>
          </a:bodyPr>
          <a:lstStyle/>
          <a:p>
            <a:pPr algn="ctr">
              <a:lnSpc>
                <a:spcPts val="7000"/>
              </a:lnSpc>
              <a:spcBef>
                <a:spcPct val="0"/>
              </a:spcBef>
            </a:pPr>
            <a:r>
              <a:rPr lang="en-US" sz="5000">
                <a:solidFill>
                  <a:srgbClr val="F58D05"/>
                </a:solidFill>
                <a:latin typeface="League Spartan"/>
                <a:ea typeface="League Spartan"/>
                <a:cs typeface="League Spartan"/>
                <a:sym typeface="League Spartan"/>
              </a:rPr>
              <a:t>KEKURANGAN</a:t>
            </a:r>
          </a:p>
        </p:txBody>
      </p:sp>
      <p:sp>
        <p:nvSpPr>
          <p:cNvPr name="TextBox 8" id="8"/>
          <p:cNvSpPr txBox="true"/>
          <p:nvPr/>
        </p:nvSpPr>
        <p:spPr>
          <a:xfrm rot="0">
            <a:off x="8135374" y="4684712"/>
            <a:ext cx="9166472" cy="37338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Aplikasi monolitik yang besar pengembagannya akan sulit dan lambat.</a:t>
            </a:r>
          </a:p>
          <a:p>
            <a:pPr algn="just" marL="647700" indent="-323850" lvl="1">
              <a:lnSpc>
                <a:spcPts val="4200"/>
              </a:lnSpc>
              <a:buFont typeface="Arial"/>
              <a:buChar char="•"/>
            </a:pPr>
            <a:r>
              <a:rPr lang="en-US" sz="3000">
                <a:solidFill>
                  <a:srgbClr val="866255"/>
                </a:solidFill>
                <a:latin typeface="Arimo"/>
                <a:ea typeface="Arimo"/>
                <a:cs typeface="Arimo"/>
                <a:sym typeface="Arimo"/>
              </a:rPr>
              <a:t>Tidak bisa menskalakan layanan tertentu.</a:t>
            </a:r>
          </a:p>
          <a:p>
            <a:pPr algn="just" marL="647700" indent="-323850" lvl="1">
              <a:lnSpc>
                <a:spcPts val="4200"/>
              </a:lnSpc>
              <a:buFont typeface="Arial"/>
              <a:buChar char="•"/>
            </a:pPr>
            <a:r>
              <a:rPr lang="en-US" sz="3000">
                <a:solidFill>
                  <a:srgbClr val="866255"/>
                </a:solidFill>
                <a:latin typeface="Arimo"/>
                <a:ea typeface="Arimo"/>
                <a:cs typeface="Arimo"/>
                <a:sym typeface="Arimo"/>
              </a:rPr>
              <a:t>Jika terdapat masalah pada suatu modul, akan berdampak pada seluruh aplikasi.</a:t>
            </a:r>
          </a:p>
          <a:p>
            <a:pPr algn="just" marL="647700" indent="-323850" lvl="1">
              <a:lnSpc>
                <a:spcPts val="4200"/>
              </a:lnSpc>
              <a:buFont typeface="Arial"/>
              <a:buChar char="•"/>
            </a:pPr>
            <a:r>
              <a:rPr lang="en-US" sz="3000">
                <a:solidFill>
                  <a:srgbClr val="866255"/>
                </a:solidFill>
                <a:latin typeface="Arimo"/>
                <a:ea typeface="Arimo"/>
                <a:cs typeface="Arimo"/>
                <a:sym typeface="Arimo"/>
              </a:rPr>
              <a:t>Ketika ada perubahan pada suatu fitur, maka harus dimulai ulang seluruh aplikasi.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875670" y="3627488"/>
            <a:ext cx="6574130"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Microservice</a:t>
            </a:r>
          </a:p>
        </p:txBody>
      </p:sp>
      <p:sp>
        <p:nvSpPr>
          <p:cNvPr name="TextBox 3" id="3"/>
          <p:cNvSpPr txBox="true"/>
          <p:nvPr/>
        </p:nvSpPr>
        <p:spPr>
          <a:xfrm rot="0">
            <a:off x="10393434" y="4887310"/>
            <a:ext cx="7442524" cy="16002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Arsitektur program yang mengandalkan serangkaian layanan yang dapat diterapkan secara independen.</a:t>
            </a:r>
          </a:p>
        </p:txBody>
      </p:sp>
      <p:sp>
        <p:nvSpPr>
          <p:cNvPr name="TextBox 4" id="4"/>
          <p:cNvSpPr txBox="true"/>
          <p:nvPr/>
        </p:nvSpPr>
        <p:spPr>
          <a:xfrm rot="0">
            <a:off x="1096824" y="914073"/>
            <a:ext cx="4134112" cy="863600"/>
          </a:xfrm>
          <a:prstGeom prst="rect">
            <a:avLst/>
          </a:prstGeom>
        </p:spPr>
        <p:txBody>
          <a:bodyPr anchor="t" rtlCol="false" tIns="0" lIns="0" bIns="0" rIns="0">
            <a:spAutoFit/>
          </a:bodyPr>
          <a:lstStyle/>
          <a:p>
            <a:pPr algn="ctr">
              <a:lnSpc>
                <a:spcPts val="7000"/>
              </a:lnSpc>
              <a:spcBef>
                <a:spcPct val="0"/>
              </a:spcBef>
            </a:pPr>
            <a:r>
              <a:rPr lang="en-US" sz="5000">
                <a:solidFill>
                  <a:srgbClr val="F58D05"/>
                </a:solidFill>
                <a:latin typeface="League Spartan"/>
                <a:ea typeface="League Spartan"/>
                <a:cs typeface="League Spartan"/>
                <a:sym typeface="League Spartan"/>
              </a:rPr>
              <a:t>KELEBIHAN</a:t>
            </a:r>
          </a:p>
        </p:txBody>
      </p:sp>
      <p:sp>
        <p:nvSpPr>
          <p:cNvPr name="TextBox 5" id="5"/>
          <p:cNvSpPr txBox="true"/>
          <p:nvPr/>
        </p:nvSpPr>
        <p:spPr>
          <a:xfrm rot="0">
            <a:off x="647700" y="1711325"/>
            <a:ext cx="9281673" cy="37338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Kemudahan dalam meskalakan aplikasi.</a:t>
            </a:r>
          </a:p>
          <a:p>
            <a:pPr algn="just" marL="647700" indent="-323850" lvl="1">
              <a:lnSpc>
                <a:spcPts val="4200"/>
              </a:lnSpc>
              <a:buFont typeface="Arial"/>
              <a:buChar char="•"/>
            </a:pPr>
            <a:r>
              <a:rPr lang="en-US" sz="3000">
                <a:solidFill>
                  <a:srgbClr val="866255"/>
                </a:solidFill>
                <a:latin typeface="Arimo"/>
                <a:ea typeface="Arimo"/>
                <a:cs typeface="Arimo"/>
                <a:sym typeface="Arimo"/>
              </a:rPr>
              <a:t>Kemudahan maintenance dan pengetesan.</a:t>
            </a:r>
          </a:p>
          <a:p>
            <a:pPr algn="just" marL="647700" indent="-323850" lvl="1">
              <a:lnSpc>
                <a:spcPts val="4200"/>
              </a:lnSpc>
              <a:buFont typeface="Arial"/>
              <a:buChar char="•"/>
            </a:pPr>
            <a:r>
              <a:rPr lang="en-US" sz="3000">
                <a:solidFill>
                  <a:srgbClr val="866255"/>
                </a:solidFill>
                <a:latin typeface="Arimo"/>
                <a:ea typeface="Arimo"/>
                <a:cs typeface="Arimo"/>
                <a:sym typeface="Arimo"/>
              </a:rPr>
              <a:t>Penerapan layanan yang mandiri dan independen.</a:t>
            </a:r>
          </a:p>
          <a:p>
            <a:pPr algn="just" marL="647700" indent="-323850" lvl="1">
              <a:lnSpc>
                <a:spcPts val="4200"/>
              </a:lnSpc>
              <a:buFont typeface="Arial"/>
              <a:buChar char="•"/>
            </a:pPr>
            <a:r>
              <a:rPr lang="en-US" sz="3000">
                <a:solidFill>
                  <a:srgbClr val="866255"/>
                </a:solidFill>
                <a:latin typeface="Arimo"/>
                <a:ea typeface="Arimo"/>
                <a:cs typeface="Arimo"/>
                <a:sym typeface="Arimo"/>
              </a:rPr>
              <a:t>Fleksibilitas teknologi yang digunakan untuk layanan tertentu.</a:t>
            </a:r>
          </a:p>
          <a:p>
            <a:pPr algn="just" marL="647700" indent="-323850" lvl="1">
              <a:lnSpc>
                <a:spcPts val="4200"/>
              </a:lnSpc>
              <a:buFont typeface="Arial"/>
              <a:buChar char="•"/>
            </a:pPr>
            <a:r>
              <a:rPr lang="en-US" sz="3000">
                <a:solidFill>
                  <a:srgbClr val="866255"/>
                </a:solidFill>
                <a:latin typeface="Arimo"/>
                <a:ea typeface="Arimo"/>
                <a:cs typeface="Arimo"/>
                <a:sym typeface="Arimo"/>
              </a:rPr>
              <a:t>Cepat dalam memulai ulang layanan tertentu dan tidak mempengaruhi layanan lainnya.</a:t>
            </a:r>
          </a:p>
        </p:txBody>
      </p:sp>
      <p:sp>
        <p:nvSpPr>
          <p:cNvPr name="TextBox 6" id="6"/>
          <p:cNvSpPr txBox="true"/>
          <p:nvPr/>
        </p:nvSpPr>
        <p:spPr>
          <a:xfrm rot="0">
            <a:off x="1028700" y="6157675"/>
            <a:ext cx="5083956" cy="863600"/>
          </a:xfrm>
          <a:prstGeom prst="rect">
            <a:avLst/>
          </a:prstGeom>
        </p:spPr>
        <p:txBody>
          <a:bodyPr anchor="t" rtlCol="false" tIns="0" lIns="0" bIns="0" rIns="0">
            <a:spAutoFit/>
          </a:bodyPr>
          <a:lstStyle/>
          <a:p>
            <a:pPr algn="ctr">
              <a:lnSpc>
                <a:spcPts val="7000"/>
              </a:lnSpc>
              <a:spcBef>
                <a:spcPct val="0"/>
              </a:spcBef>
            </a:pPr>
            <a:r>
              <a:rPr lang="en-US" sz="5000">
                <a:solidFill>
                  <a:srgbClr val="F58D05"/>
                </a:solidFill>
                <a:latin typeface="League Spartan"/>
                <a:ea typeface="League Spartan"/>
                <a:cs typeface="League Spartan"/>
                <a:sym typeface="League Spartan"/>
              </a:rPr>
              <a:t>KEKURANGAN</a:t>
            </a:r>
          </a:p>
        </p:txBody>
      </p:sp>
      <p:sp>
        <p:nvSpPr>
          <p:cNvPr name="TextBox 7" id="7"/>
          <p:cNvSpPr txBox="true"/>
          <p:nvPr/>
        </p:nvSpPr>
        <p:spPr>
          <a:xfrm rot="0">
            <a:off x="647700" y="6954600"/>
            <a:ext cx="9281673" cy="21336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Harus ada ahli dalam mengepalai pengembangan aplikasi, agar berjalan dengan sesuai.</a:t>
            </a:r>
          </a:p>
          <a:p>
            <a:pPr algn="just" marL="647700" indent="-323850" lvl="1">
              <a:lnSpc>
                <a:spcPts val="4200"/>
              </a:lnSpc>
              <a:buFont typeface="Arial"/>
              <a:buChar char="•"/>
            </a:pPr>
            <a:r>
              <a:rPr lang="en-US" sz="3000">
                <a:solidFill>
                  <a:srgbClr val="866255"/>
                </a:solidFill>
                <a:latin typeface="Arimo"/>
                <a:ea typeface="Arimo"/>
                <a:cs typeface="Arimo"/>
                <a:sym typeface="Arimo"/>
              </a:rPr>
              <a:t>Harga infrastruktur yang besar.</a:t>
            </a:r>
          </a:p>
          <a:p>
            <a:pPr algn="just" marL="647700" indent="-323850" lvl="1">
              <a:lnSpc>
                <a:spcPts val="4200"/>
              </a:lnSpc>
              <a:buFont typeface="Arial"/>
              <a:buChar char="•"/>
            </a:pPr>
            <a:r>
              <a:rPr lang="en-US" sz="3000">
                <a:solidFill>
                  <a:srgbClr val="866255"/>
                </a:solidFill>
                <a:latin typeface="Arimo"/>
                <a:ea typeface="Arimo"/>
                <a:cs typeface="Arimo"/>
                <a:sym typeface="Arimo"/>
              </a:rPr>
              <a:t>Melakukan debugging akan lebih kompleks. </a:t>
            </a:r>
          </a:p>
        </p:txBody>
      </p:sp>
      <p:sp>
        <p:nvSpPr>
          <p:cNvPr name="Freeform 8" id="8"/>
          <p:cNvSpPr/>
          <p:nvPr/>
        </p:nvSpPr>
        <p:spPr>
          <a:xfrm flipH="false" flipV="true" rot="-1394787">
            <a:off x="11456373" y="7039109"/>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476770" y="4521945"/>
            <a:ext cx="11216426" cy="4121299"/>
          </a:xfrm>
          <a:prstGeom prst="rect">
            <a:avLst/>
          </a:prstGeom>
        </p:spPr>
        <p:txBody>
          <a:bodyPr anchor="t" rtlCol="false" tIns="0" lIns="0" bIns="0" rIns="0">
            <a:spAutoFit/>
          </a:bodyPr>
          <a:lstStyle/>
          <a:p>
            <a:pPr algn="ctr">
              <a:lnSpc>
                <a:spcPts val="10995"/>
              </a:lnSpc>
            </a:pPr>
            <a:r>
              <a:rPr lang="en-US" sz="7854">
                <a:solidFill>
                  <a:srgbClr val="F58D05"/>
                </a:solidFill>
                <a:latin typeface="League Spartan"/>
                <a:ea typeface="League Spartan"/>
                <a:cs typeface="League Spartan"/>
                <a:sym typeface="League Spartan"/>
              </a:rPr>
              <a:t>XML</a:t>
            </a:r>
          </a:p>
          <a:p>
            <a:pPr algn="ctr">
              <a:lnSpc>
                <a:spcPts val="10995"/>
              </a:lnSpc>
            </a:pPr>
            <a:r>
              <a:rPr lang="en-US" sz="7854">
                <a:solidFill>
                  <a:srgbClr val="F58D05"/>
                </a:solidFill>
                <a:latin typeface="League Spartan"/>
                <a:ea typeface="League Spartan"/>
                <a:cs typeface="League Spartan"/>
                <a:sym typeface="League Spartan"/>
              </a:rPr>
              <a:t>VS</a:t>
            </a:r>
          </a:p>
          <a:p>
            <a:pPr algn="ctr">
              <a:lnSpc>
                <a:spcPts val="10995"/>
              </a:lnSpc>
              <a:spcBef>
                <a:spcPct val="0"/>
              </a:spcBef>
            </a:pPr>
            <a:r>
              <a:rPr lang="en-US" sz="7854">
                <a:solidFill>
                  <a:srgbClr val="F58D05"/>
                </a:solidFill>
                <a:latin typeface="League Spartan"/>
                <a:ea typeface="League Spartan"/>
                <a:cs typeface="League Spartan"/>
                <a:sym typeface="League Spartan"/>
              </a:rPr>
              <a:t>JSON</a:t>
            </a:r>
          </a:p>
        </p:txBody>
      </p:sp>
      <p:sp>
        <p:nvSpPr>
          <p:cNvPr name="Freeform 3" id="3"/>
          <p:cNvSpPr/>
          <p:nvPr/>
        </p:nvSpPr>
        <p:spPr>
          <a:xfrm flipH="false" flipV="true" rot="-1394787">
            <a:off x="11456373" y="7039109"/>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86984" y="518465"/>
            <a:ext cx="6042702" cy="3137260"/>
          </a:xfrm>
          <a:custGeom>
            <a:avLst/>
            <a:gdLst/>
            <a:ahLst/>
            <a:cxnLst/>
            <a:rect r="r" b="b" t="t" l="l"/>
            <a:pathLst>
              <a:path h="3137260" w="6042702">
                <a:moveTo>
                  <a:pt x="0" y="0"/>
                </a:moveTo>
                <a:lnTo>
                  <a:pt x="6042703" y="0"/>
                </a:lnTo>
                <a:lnTo>
                  <a:pt x="6042703" y="3137260"/>
                </a:lnTo>
                <a:lnTo>
                  <a:pt x="0" y="3137260"/>
                </a:lnTo>
                <a:lnTo>
                  <a:pt x="0" y="0"/>
                </a:lnTo>
                <a:close/>
              </a:path>
            </a:pathLst>
          </a:custGeom>
          <a:blipFill>
            <a:blip r:embed="rId4"/>
            <a:stretch>
              <a:fillRect l="0" t="0" r="0" b="0"/>
            </a:stretch>
          </a:blipFill>
        </p:spPr>
      </p:sp>
      <p:sp>
        <p:nvSpPr>
          <p:cNvPr name="Freeform 5" id="5"/>
          <p:cNvSpPr/>
          <p:nvPr/>
        </p:nvSpPr>
        <p:spPr>
          <a:xfrm flipH="false" flipV="false" rot="0">
            <a:off x="6439073" y="518465"/>
            <a:ext cx="5947559" cy="3137260"/>
          </a:xfrm>
          <a:custGeom>
            <a:avLst/>
            <a:gdLst/>
            <a:ahLst/>
            <a:cxnLst/>
            <a:rect r="r" b="b" t="t" l="l"/>
            <a:pathLst>
              <a:path h="3137260" w="5947559">
                <a:moveTo>
                  <a:pt x="0" y="0"/>
                </a:moveTo>
                <a:lnTo>
                  <a:pt x="5947559" y="0"/>
                </a:lnTo>
                <a:lnTo>
                  <a:pt x="5947559" y="3137260"/>
                </a:lnTo>
                <a:lnTo>
                  <a:pt x="0" y="3137260"/>
                </a:lnTo>
                <a:lnTo>
                  <a:pt x="0" y="0"/>
                </a:lnTo>
                <a:close/>
              </a:path>
            </a:pathLst>
          </a:custGeom>
          <a:blipFill>
            <a:blip r:embed="rId5"/>
            <a:stretch>
              <a:fillRect l="0" t="0" r="0" b="0"/>
            </a:stretch>
          </a:blipFill>
        </p:spPr>
      </p:sp>
      <p:sp>
        <p:nvSpPr>
          <p:cNvPr name="Freeform 6" id="6"/>
          <p:cNvSpPr/>
          <p:nvPr/>
        </p:nvSpPr>
        <p:spPr>
          <a:xfrm flipH="false" flipV="false" rot="0">
            <a:off x="12624970" y="294599"/>
            <a:ext cx="5339662" cy="4072337"/>
          </a:xfrm>
          <a:custGeom>
            <a:avLst/>
            <a:gdLst/>
            <a:ahLst/>
            <a:cxnLst/>
            <a:rect r="r" b="b" t="t" l="l"/>
            <a:pathLst>
              <a:path h="4072337" w="5339662">
                <a:moveTo>
                  <a:pt x="0" y="0"/>
                </a:moveTo>
                <a:lnTo>
                  <a:pt x="5339662" y="0"/>
                </a:lnTo>
                <a:lnTo>
                  <a:pt x="5339662" y="4072337"/>
                </a:lnTo>
                <a:lnTo>
                  <a:pt x="0" y="4072337"/>
                </a:lnTo>
                <a:lnTo>
                  <a:pt x="0" y="0"/>
                </a:lnTo>
                <a:close/>
              </a:path>
            </a:pathLst>
          </a:custGeom>
          <a:blipFill>
            <a:blip r:embed="rId6"/>
            <a:stretch>
              <a:fillRect l="0" t="0" r="0" b="0"/>
            </a:stretch>
          </a:blipFill>
        </p:spPr>
      </p:sp>
      <p:sp>
        <p:nvSpPr>
          <p:cNvPr name="Freeform 7" id="7"/>
          <p:cNvSpPr/>
          <p:nvPr/>
        </p:nvSpPr>
        <p:spPr>
          <a:xfrm flipH="false" flipV="false" rot="0">
            <a:off x="386984" y="4204511"/>
            <a:ext cx="5251482" cy="4131052"/>
          </a:xfrm>
          <a:custGeom>
            <a:avLst/>
            <a:gdLst/>
            <a:ahLst/>
            <a:cxnLst/>
            <a:rect r="r" b="b" t="t" l="l"/>
            <a:pathLst>
              <a:path h="4131052" w="5251482">
                <a:moveTo>
                  <a:pt x="0" y="0"/>
                </a:moveTo>
                <a:lnTo>
                  <a:pt x="5251482" y="0"/>
                </a:lnTo>
                <a:lnTo>
                  <a:pt x="5251482" y="4131052"/>
                </a:lnTo>
                <a:lnTo>
                  <a:pt x="0" y="4131052"/>
                </a:lnTo>
                <a:lnTo>
                  <a:pt x="0" y="0"/>
                </a:lnTo>
                <a:close/>
              </a:path>
            </a:pathLst>
          </a:custGeom>
          <a:blipFill>
            <a:blip r:embed="rId7"/>
            <a:stretch>
              <a:fillRect l="0" t="0" r="0" b="0"/>
            </a:stretch>
          </a:blipFill>
        </p:spPr>
      </p:sp>
      <p:sp>
        <p:nvSpPr>
          <p:cNvPr name="Freeform 8" id="8"/>
          <p:cNvSpPr/>
          <p:nvPr/>
        </p:nvSpPr>
        <p:spPr>
          <a:xfrm flipH="false" flipV="false" rot="0">
            <a:off x="5936473" y="4002599"/>
            <a:ext cx="5787809" cy="4534875"/>
          </a:xfrm>
          <a:custGeom>
            <a:avLst/>
            <a:gdLst/>
            <a:ahLst/>
            <a:cxnLst/>
            <a:rect r="r" b="b" t="t" l="l"/>
            <a:pathLst>
              <a:path h="4534875" w="5787809">
                <a:moveTo>
                  <a:pt x="0" y="0"/>
                </a:moveTo>
                <a:lnTo>
                  <a:pt x="5787809" y="0"/>
                </a:lnTo>
                <a:lnTo>
                  <a:pt x="5787809" y="4534875"/>
                </a:lnTo>
                <a:lnTo>
                  <a:pt x="0" y="4534875"/>
                </a:lnTo>
                <a:lnTo>
                  <a:pt x="0" y="0"/>
                </a:lnTo>
                <a:close/>
              </a:path>
            </a:pathLst>
          </a:custGeom>
          <a:blipFill>
            <a:blip r:embed="rId8"/>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5459138" y="-1868130"/>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60515" y="946737"/>
            <a:ext cx="7766814" cy="9340263"/>
          </a:xfrm>
          <a:custGeom>
            <a:avLst/>
            <a:gdLst/>
            <a:ahLst/>
            <a:cxnLst/>
            <a:rect r="r" b="b" t="t" l="l"/>
            <a:pathLst>
              <a:path h="9340263" w="7766814">
                <a:moveTo>
                  <a:pt x="0" y="0"/>
                </a:moveTo>
                <a:lnTo>
                  <a:pt x="7766813" y="0"/>
                </a:lnTo>
                <a:lnTo>
                  <a:pt x="7766813" y="9340263"/>
                </a:lnTo>
                <a:lnTo>
                  <a:pt x="0" y="93402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326824"/>
            <a:ext cx="6513958" cy="2573762"/>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BAB 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67454" y="2457666"/>
            <a:ext cx="1233504" cy="930985"/>
            <a:chOff x="0" y="0"/>
            <a:chExt cx="324873" cy="245198"/>
          </a:xfrm>
        </p:grpSpPr>
        <p:sp>
          <p:nvSpPr>
            <p:cNvPr name="Freeform 3" id="3"/>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4" id="4"/>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1</a:t>
              </a:r>
            </a:p>
          </p:txBody>
        </p:sp>
      </p:grpSp>
      <p:grpSp>
        <p:nvGrpSpPr>
          <p:cNvPr name="Group 5" id="5"/>
          <p:cNvGrpSpPr/>
          <p:nvPr/>
        </p:nvGrpSpPr>
        <p:grpSpPr>
          <a:xfrm rot="0">
            <a:off x="12899137" y="2457666"/>
            <a:ext cx="1233504" cy="930985"/>
            <a:chOff x="0" y="0"/>
            <a:chExt cx="324873" cy="245198"/>
          </a:xfrm>
        </p:grpSpPr>
        <p:sp>
          <p:nvSpPr>
            <p:cNvPr name="Freeform 6" id="6"/>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7" id="7"/>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2</a:t>
              </a:r>
            </a:p>
          </p:txBody>
        </p:sp>
      </p:grpSp>
      <p:grpSp>
        <p:nvGrpSpPr>
          <p:cNvPr name="Group 8" id="8"/>
          <p:cNvGrpSpPr/>
          <p:nvPr/>
        </p:nvGrpSpPr>
        <p:grpSpPr>
          <a:xfrm rot="0">
            <a:off x="6018552" y="5667005"/>
            <a:ext cx="1233504" cy="930985"/>
            <a:chOff x="0" y="0"/>
            <a:chExt cx="324873" cy="245198"/>
          </a:xfrm>
        </p:grpSpPr>
        <p:sp>
          <p:nvSpPr>
            <p:cNvPr name="Freeform 9" id="9"/>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10" id="10"/>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sz="4199">
                  <a:solidFill>
                    <a:srgbClr val="FFFFFF"/>
                  </a:solidFill>
                  <a:latin typeface="Arimo"/>
                  <a:ea typeface="Arimo"/>
                  <a:cs typeface="Arimo"/>
                  <a:sym typeface="Arimo"/>
                </a:rPr>
                <a:t>3</a:t>
              </a:r>
            </a:p>
          </p:txBody>
        </p:sp>
      </p:grpSp>
      <p:sp>
        <p:nvSpPr>
          <p:cNvPr name="TextBox 11" id="11"/>
          <p:cNvSpPr txBox="true"/>
          <p:nvPr/>
        </p:nvSpPr>
        <p:spPr>
          <a:xfrm rot="0">
            <a:off x="2430675"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F26B6D"/>
                </a:solidFill>
                <a:latin typeface="League Spartan"/>
                <a:ea typeface="League Spartan"/>
                <a:cs typeface="League Spartan"/>
                <a:sym typeface="League Spartan"/>
              </a:rPr>
              <a:t>Metode Penelitian</a:t>
            </a:r>
          </a:p>
        </p:txBody>
      </p:sp>
      <p:sp>
        <p:nvSpPr>
          <p:cNvPr name="TextBox 12" id="12"/>
          <p:cNvSpPr txBox="true"/>
          <p:nvPr/>
        </p:nvSpPr>
        <p:spPr>
          <a:xfrm rot="0">
            <a:off x="1174297" y="3998898"/>
            <a:ext cx="6253320" cy="10668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Bagaimana memecah fungsionalitas monolith XMPP?</a:t>
            </a:r>
          </a:p>
        </p:txBody>
      </p:sp>
      <p:sp>
        <p:nvSpPr>
          <p:cNvPr name="Freeform 13" id="13"/>
          <p:cNvSpPr/>
          <p:nvPr/>
        </p:nvSpPr>
        <p:spPr>
          <a:xfrm flipH="false" flipV="true" rot="-1449686">
            <a:off x="15514956" y="-8340653"/>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true" rot="-3635424">
            <a:off x="-13219779" y="5935123"/>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893073" y="6132498"/>
            <a:ext cx="4303899" cy="4114800"/>
          </a:xfrm>
          <a:custGeom>
            <a:avLst/>
            <a:gdLst/>
            <a:ahLst/>
            <a:cxnLst/>
            <a:rect r="r" b="b" t="t" l="l"/>
            <a:pathLst>
              <a:path h="4114800" w="4303899">
                <a:moveTo>
                  <a:pt x="0" y="0"/>
                </a:moveTo>
                <a:lnTo>
                  <a:pt x="4303899" y="0"/>
                </a:lnTo>
                <a:lnTo>
                  <a:pt x="430389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733051" y="3468144"/>
            <a:ext cx="5902308" cy="645054"/>
          </a:xfrm>
          <a:prstGeom prst="rect">
            <a:avLst/>
          </a:prstGeom>
        </p:spPr>
        <p:txBody>
          <a:bodyPr anchor="t" rtlCol="false" tIns="0" lIns="0" bIns="0" rIns="0">
            <a:spAutoFit/>
          </a:bodyPr>
          <a:lstStyle/>
          <a:p>
            <a:pPr algn="ctr">
              <a:lnSpc>
                <a:spcPts val="5395"/>
              </a:lnSpc>
              <a:spcBef>
                <a:spcPct val="0"/>
              </a:spcBef>
            </a:pPr>
            <a:r>
              <a:rPr lang="en-US" sz="3854">
                <a:solidFill>
                  <a:srgbClr val="7B95F9"/>
                </a:solidFill>
                <a:latin typeface="League Spartan"/>
                <a:ea typeface="League Spartan"/>
                <a:cs typeface="League Spartan"/>
                <a:sym typeface="League Spartan"/>
              </a:rPr>
              <a:t>Langkah 1</a:t>
            </a:r>
          </a:p>
        </p:txBody>
      </p:sp>
      <p:sp>
        <p:nvSpPr>
          <p:cNvPr name="TextBox 17" id="17"/>
          <p:cNvSpPr txBox="true"/>
          <p:nvPr/>
        </p:nvSpPr>
        <p:spPr>
          <a:xfrm rot="0">
            <a:off x="9144000" y="3998898"/>
            <a:ext cx="8115300" cy="10668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Bagaimana cara melakukan koneksi ke server yang terpisah dengan alamat yang belum pasti?</a:t>
            </a:r>
          </a:p>
        </p:txBody>
      </p:sp>
      <p:sp>
        <p:nvSpPr>
          <p:cNvPr name="TextBox 18" id="18"/>
          <p:cNvSpPr txBox="true"/>
          <p:nvPr/>
        </p:nvSpPr>
        <p:spPr>
          <a:xfrm rot="0">
            <a:off x="10564734" y="3468144"/>
            <a:ext cx="5902308" cy="645054"/>
          </a:xfrm>
          <a:prstGeom prst="rect">
            <a:avLst/>
          </a:prstGeom>
        </p:spPr>
        <p:txBody>
          <a:bodyPr anchor="t" rtlCol="false" tIns="0" lIns="0" bIns="0" rIns="0">
            <a:spAutoFit/>
          </a:bodyPr>
          <a:lstStyle/>
          <a:p>
            <a:pPr algn="ctr">
              <a:lnSpc>
                <a:spcPts val="5395"/>
              </a:lnSpc>
              <a:spcBef>
                <a:spcPct val="0"/>
              </a:spcBef>
            </a:pPr>
            <a:r>
              <a:rPr lang="en-US" sz="3854">
                <a:solidFill>
                  <a:srgbClr val="7B95F9"/>
                </a:solidFill>
                <a:latin typeface="League Spartan"/>
                <a:ea typeface="League Spartan"/>
                <a:cs typeface="League Spartan"/>
                <a:sym typeface="League Spartan"/>
              </a:rPr>
              <a:t>Langkah 2</a:t>
            </a:r>
          </a:p>
        </p:txBody>
      </p:sp>
      <p:sp>
        <p:nvSpPr>
          <p:cNvPr name="TextBox 19" id="19"/>
          <p:cNvSpPr txBox="true"/>
          <p:nvPr/>
        </p:nvSpPr>
        <p:spPr>
          <a:xfrm rot="0">
            <a:off x="3320794" y="7207591"/>
            <a:ext cx="7862522" cy="10668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Bagaimana cara menjaga kestabilan resource relay?</a:t>
            </a:r>
          </a:p>
        </p:txBody>
      </p:sp>
      <p:sp>
        <p:nvSpPr>
          <p:cNvPr name="TextBox 20" id="20"/>
          <p:cNvSpPr txBox="true"/>
          <p:nvPr/>
        </p:nvSpPr>
        <p:spPr>
          <a:xfrm rot="0">
            <a:off x="3570873" y="6668328"/>
            <a:ext cx="5902308" cy="645054"/>
          </a:xfrm>
          <a:prstGeom prst="rect">
            <a:avLst/>
          </a:prstGeom>
        </p:spPr>
        <p:txBody>
          <a:bodyPr anchor="t" rtlCol="false" tIns="0" lIns="0" bIns="0" rIns="0">
            <a:spAutoFit/>
          </a:bodyPr>
          <a:lstStyle/>
          <a:p>
            <a:pPr algn="ctr">
              <a:lnSpc>
                <a:spcPts val="5395"/>
              </a:lnSpc>
              <a:spcBef>
                <a:spcPct val="0"/>
              </a:spcBef>
            </a:pPr>
            <a:r>
              <a:rPr lang="en-US" sz="3854">
                <a:solidFill>
                  <a:srgbClr val="7B95F9"/>
                </a:solidFill>
                <a:latin typeface="League Spartan"/>
                <a:ea typeface="League Spartan"/>
                <a:cs typeface="League Spartan"/>
                <a:sym typeface="League Spartan"/>
              </a:rPr>
              <a:t>Langkah 3</a:t>
            </a:r>
          </a:p>
        </p:txBody>
      </p:sp>
      <p:sp>
        <p:nvSpPr>
          <p:cNvPr name="Freeform 21" id="21"/>
          <p:cNvSpPr/>
          <p:nvPr/>
        </p:nvSpPr>
        <p:spPr>
          <a:xfrm flipH="false" flipV="true" rot="-3635424">
            <a:off x="-11311683" y="-10830198"/>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2" id="22"/>
          <p:cNvSpPr txBox="true"/>
          <p:nvPr/>
        </p:nvSpPr>
        <p:spPr>
          <a:xfrm rot="0">
            <a:off x="1174297" y="5095505"/>
            <a:ext cx="3503645" cy="533400"/>
          </a:xfrm>
          <a:prstGeom prst="rect">
            <a:avLst/>
          </a:prstGeom>
        </p:spPr>
        <p:txBody>
          <a:bodyPr anchor="t" rtlCol="false" tIns="0" lIns="0" bIns="0" rIns="0">
            <a:spAutoFit/>
          </a:bodyPr>
          <a:lstStyle/>
          <a:p>
            <a:pPr algn="just">
              <a:lnSpc>
                <a:spcPts val="4200"/>
              </a:lnSpc>
              <a:spcBef>
                <a:spcPct val="0"/>
              </a:spcBef>
            </a:pPr>
            <a:r>
              <a:rPr lang="en-US" b="true" sz="3000">
                <a:solidFill>
                  <a:srgbClr val="866255"/>
                </a:solidFill>
                <a:latin typeface="Arimo Bold"/>
                <a:ea typeface="Arimo Bold"/>
                <a:cs typeface="Arimo Bold"/>
                <a:sym typeface="Arimo Bold"/>
              </a:rPr>
              <a:t>Manager dan relay</a:t>
            </a:r>
          </a:p>
        </p:txBody>
      </p:sp>
      <p:sp>
        <p:nvSpPr>
          <p:cNvPr name="TextBox 23" id="23"/>
          <p:cNvSpPr txBox="true"/>
          <p:nvPr/>
        </p:nvSpPr>
        <p:spPr>
          <a:xfrm rot="0">
            <a:off x="9144000" y="5095505"/>
            <a:ext cx="1796236" cy="533400"/>
          </a:xfrm>
          <a:prstGeom prst="rect">
            <a:avLst/>
          </a:prstGeom>
        </p:spPr>
        <p:txBody>
          <a:bodyPr anchor="t" rtlCol="false" tIns="0" lIns="0" bIns="0" rIns="0">
            <a:spAutoFit/>
          </a:bodyPr>
          <a:lstStyle/>
          <a:p>
            <a:pPr algn="just">
              <a:lnSpc>
                <a:spcPts val="4200"/>
              </a:lnSpc>
              <a:spcBef>
                <a:spcPct val="0"/>
              </a:spcBef>
            </a:pPr>
            <a:r>
              <a:rPr lang="en-US" b="true" sz="3000">
                <a:solidFill>
                  <a:srgbClr val="866255"/>
                </a:solidFill>
                <a:latin typeface="Arimo Bold"/>
                <a:ea typeface="Arimo Bold"/>
                <a:cs typeface="Arimo Bold"/>
                <a:sym typeface="Arimo Bold"/>
              </a:rPr>
              <a:t>Tracker</a:t>
            </a:r>
          </a:p>
        </p:txBody>
      </p:sp>
      <p:sp>
        <p:nvSpPr>
          <p:cNvPr name="TextBox 24" id="24"/>
          <p:cNvSpPr txBox="true"/>
          <p:nvPr/>
        </p:nvSpPr>
        <p:spPr>
          <a:xfrm rot="0">
            <a:off x="3320794" y="8341066"/>
            <a:ext cx="5823206" cy="1066800"/>
          </a:xfrm>
          <a:prstGeom prst="rect">
            <a:avLst/>
          </a:prstGeom>
        </p:spPr>
        <p:txBody>
          <a:bodyPr anchor="t" rtlCol="false" tIns="0" lIns="0" bIns="0" rIns="0">
            <a:spAutoFit/>
          </a:bodyPr>
          <a:lstStyle/>
          <a:p>
            <a:pPr algn="just">
              <a:lnSpc>
                <a:spcPts val="4200"/>
              </a:lnSpc>
              <a:spcBef>
                <a:spcPct val="0"/>
              </a:spcBef>
            </a:pPr>
            <a:r>
              <a:rPr lang="en-US" b="true" sz="3000">
                <a:solidFill>
                  <a:srgbClr val="866255"/>
                </a:solidFill>
                <a:latin typeface="Arimo Bold"/>
                <a:ea typeface="Arimo Bold"/>
                <a:cs typeface="Arimo Bold"/>
                <a:sym typeface="Arimo Bold"/>
              </a:rPr>
              <a:t>Memberikan fungsionalitas load balancer pada manager.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6472" y="3469378"/>
            <a:ext cx="3941528" cy="6694986"/>
          </a:xfrm>
          <a:custGeom>
            <a:avLst/>
            <a:gdLst/>
            <a:ahLst/>
            <a:cxnLst/>
            <a:rect r="r" b="b" t="t" l="l"/>
            <a:pathLst>
              <a:path h="6694986" w="3941528">
                <a:moveTo>
                  <a:pt x="0" y="0"/>
                </a:moveTo>
                <a:lnTo>
                  <a:pt x="3941528" y="0"/>
                </a:lnTo>
                <a:lnTo>
                  <a:pt x="3941528" y="6694986"/>
                </a:lnTo>
                <a:lnTo>
                  <a:pt x="0" y="6694986"/>
                </a:lnTo>
                <a:lnTo>
                  <a:pt x="0" y="0"/>
                </a:lnTo>
                <a:close/>
              </a:path>
            </a:pathLst>
          </a:custGeom>
          <a:blipFill>
            <a:blip r:embed="rId4">
              <a:extLst>
                <a:ext uri="{96DAC541-7B7A-43D3-8B79-37D633B846F1}">
                  <asvg:svgBlip xmlns:asvg="http://schemas.microsoft.com/office/drawing/2016/SVG/main" r:embed="rId5"/>
                </a:ext>
              </a:extLst>
            </a:blip>
            <a:stretch>
              <a:fillRect l="-65225" t="0" r="0" b="0"/>
            </a:stretch>
          </a:blipFill>
        </p:spPr>
      </p:sp>
      <p:sp>
        <p:nvSpPr>
          <p:cNvPr name="Freeform 4" id="4"/>
          <p:cNvSpPr/>
          <p:nvPr/>
        </p:nvSpPr>
        <p:spPr>
          <a:xfrm flipH="false" flipV="false" rot="0">
            <a:off x="2144197" y="2918186"/>
            <a:ext cx="11134013" cy="4450628"/>
          </a:xfrm>
          <a:custGeom>
            <a:avLst/>
            <a:gdLst/>
            <a:ahLst/>
            <a:cxnLst/>
            <a:rect r="r" b="b" t="t" l="l"/>
            <a:pathLst>
              <a:path h="4450628" w="11134013">
                <a:moveTo>
                  <a:pt x="0" y="0"/>
                </a:moveTo>
                <a:lnTo>
                  <a:pt x="11134013" y="0"/>
                </a:lnTo>
                <a:lnTo>
                  <a:pt x="11134013" y="4450628"/>
                </a:lnTo>
                <a:lnTo>
                  <a:pt x="0" y="4450628"/>
                </a:lnTo>
                <a:lnTo>
                  <a:pt x="0" y="0"/>
                </a:lnTo>
                <a:close/>
              </a:path>
            </a:pathLst>
          </a:custGeom>
          <a:blipFill>
            <a:blip r:embed="rId6"/>
            <a:stretch>
              <a:fillRect l="0" t="0" r="0" b="0"/>
            </a:stretch>
          </a:blipFill>
        </p:spPr>
      </p:sp>
      <p:sp>
        <p:nvSpPr>
          <p:cNvPr name="TextBox 5" id="5"/>
          <p:cNvSpPr txBox="true"/>
          <p:nvPr/>
        </p:nvSpPr>
        <p:spPr>
          <a:xfrm rot="0">
            <a:off x="2061784" y="885825"/>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Arsitektur Sistem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6472" y="3469378"/>
            <a:ext cx="3941528" cy="6694986"/>
          </a:xfrm>
          <a:custGeom>
            <a:avLst/>
            <a:gdLst/>
            <a:ahLst/>
            <a:cxnLst/>
            <a:rect r="r" b="b" t="t" l="l"/>
            <a:pathLst>
              <a:path h="6694986" w="3941528">
                <a:moveTo>
                  <a:pt x="0" y="0"/>
                </a:moveTo>
                <a:lnTo>
                  <a:pt x="3941528" y="0"/>
                </a:lnTo>
                <a:lnTo>
                  <a:pt x="3941528" y="6694986"/>
                </a:lnTo>
                <a:lnTo>
                  <a:pt x="0" y="6694986"/>
                </a:lnTo>
                <a:lnTo>
                  <a:pt x="0" y="0"/>
                </a:lnTo>
                <a:close/>
              </a:path>
            </a:pathLst>
          </a:custGeom>
          <a:blipFill>
            <a:blip r:embed="rId4">
              <a:extLst>
                <a:ext uri="{96DAC541-7B7A-43D3-8B79-37D633B846F1}">
                  <asvg:svgBlip xmlns:asvg="http://schemas.microsoft.com/office/drawing/2016/SVG/main" r:embed="rId5"/>
                </a:ext>
              </a:extLst>
            </a:blip>
            <a:stretch>
              <a:fillRect l="-65225" t="0" r="0" b="0"/>
            </a:stretch>
          </a:blipFill>
        </p:spPr>
      </p:sp>
      <p:sp>
        <p:nvSpPr>
          <p:cNvPr name="Freeform 4" id="4"/>
          <p:cNvSpPr/>
          <p:nvPr/>
        </p:nvSpPr>
        <p:spPr>
          <a:xfrm flipH="false" flipV="false" rot="0">
            <a:off x="1898547" y="3169668"/>
            <a:ext cx="7245453" cy="5759792"/>
          </a:xfrm>
          <a:custGeom>
            <a:avLst/>
            <a:gdLst/>
            <a:ahLst/>
            <a:cxnLst/>
            <a:rect r="r" b="b" t="t" l="l"/>
            <a:pathLst>
              <a:path h="5759792" w="7245453">
                <a:moveTo>
                  <a:pt x="0" y="0"/>
                </a:moveTo>
                <a:lnTo>
                  <a:pt x="7245453" y="0"/>
                </a:lnTo>
                <a:lnTo>
                  <a:pt x="7245453" y="5759792"/>
                </a:lnTo>
                <a:lnTo>
                  <a:pt x="0" y="5759792"/>
                </a:lnTo>
                <a:lnTo>
                  <a:pt x="0" y="0"/>
                </a:lnTo>
                <a:close/>
              </a:path>
            </a:pathLst>
          </a:custGeom>
          <a:blipFill>
            <a:blip r:embed="rId6"/>
            <a:stretch>
              <a:fillRect l="0" t="0" r="0" b="0"/>
            </a:stretch>
          </a:blipFill>
        </p:spPr>
      </p:sp>
      <p:sp>
        <p:nvSpPr>
          <p:cNvPr name="TextBox 5" id="5"/>
          <p:cNvSpPr txBox="true"/>
          <p:nvPr/>
        </p:nvSpPr>
        <p:spPr>
          <a:xfrm rot="0">
            <a:off x="1028700" y="100848"/>
            <a:ext cx="11216426" cy="2728660"/>
          </a:xfrm>
          <a:prstGeom prst="rect">
            <a:avLst/>
          </a:prstGeom>
        </p:spPr>
        <p:txBody>
          <a:bodyPr anchor="t" rtlCol="false" tIns="0" lIns="0" bIns="0" rIns="0">
            <a:spAutoFit/>
          </a:bodyPr>
          <a:lstStyle/>
          <a:p>
            <a:pPr algn="ctr">
              <a:lnSpc>
                <a:spcPts val="10995"/>
              </a:lnSpc>
            </a:pPr>
            <a:r>
              <a:rPr lang="en-US" sz="7854">
                <a:solidFill>
                  <a:srgbClr val="F58D05"/>
                </a:solidFill>
                <a:latin typeface="League Spartan"/>
                <a:ea typeface="League Spartan"/>
                <a:cs typeface="League Spartan"/>
                <a:sym typeface="League Spartan"/>
              </a:rPr>
              <a:t>Activity Diagram</a:t>
            </a:r>
          </a:p>
          <a:p>
            <a:pPr algn="ctr">
              <a:lnSpc>
                <a:spcPts val="10995"/>
              </a:lnSpc>
              <a:spcBef>
                <a:spcPct val="0"/>
              </a:spcBef>
            </a:pPr>
            <a:r>
              <a:rPr lang="en-US" sz="7854">
                <a:solidFill>
                  <a:srgbClr val="F58D05"/>
                </a:solidFill>
                <a:latin typeface="League Spartan"/>
                <a:ea typeface="League Spartan"/>
                <a:cs typeface="League Spartan"/>
                <a:sym typeface="League Spartan"/>
              </a:rPr>
              <a:t>Tracker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6472" y="3469378"/>
            <a:ext cx="3941528" cy="6694986"/>
          </a:xfrm>
          <a:custGeom>
            <a:avLst/>
            <a:gdLst/>
            <a:ahLst/>
            <a:cxnLst/>
            <a:rect r="r" b="b" t="t" l="l"/>
            <a:pathLst>
              <a:path h="6694986" w="3941528">
                <a:moveTo>
                  <a:pt x="0" y="0"/>
                </a:moveTo>
                <a:lnTo>
                  <a:pt x="3941528" y="0"/>
                </a:lnTo>
                <a:lnTo>
                  <a:pt x="3941528" y="6694986"/>
                </a:lnTo>
                <a:lnTo>
                  <a:pt x="0" y="6694986"/>
                </a:lnTo>
                <a:lnTo>
                  <a:pt x="0" y="0"/>
                </a:lnTo>
                <a:close/>
              </a:path>
            </a:pathLst>
          </a:custGeom>
          <a:blipFill>
            <a:blip r:embed="rId4">
              <a:extLst>
                <a:ext uri="{96DAC541-7B7A-43D3-8B79-37D633B846F1}">
                  <asvg:svgBlip xmlns:asvg="http://schemas.microsoft.com/office/drawing/2016/SVG/main" r:embed="rId5"/>
                </a:ext>
              </a:extLst>
            </a:blip>
            <a:stretch>
              <a:fillRect l="-65225" t="0" r="0" b="0"/>
            </a:stretch>
          </a:blipFill>
        </p:spPr>
      </p:sp>
      <p:sp>
        <p:nvSpPr>
          <p:cNvPr name="Freeform 4" id="4"/>
          <p:cNvSpPr/>
          <p:nvPr/>
        </p:nvSpPr>
        <p:spPr>
          <a:xfrm flipH="false" flipV="false" rot="0">
            <a:off x="1028700" y="2829508"/>
            <a:ext cx="7660937" cy="6032988"/>
          </a:xfrm>
          <a:custGeom>
            <a:avLst/>
            <a:gdLst/>
            <a:ahLst/>
            <a:cxnLst/>
            <a:rect r="r" b="b" t="t" l="l"/>
            <a:pathLst>
              <a:path h="6032988" w="7660937">
                <a:moveTo>
                  <a:pt x="0" y="0"/>
                </a:moveTo>
                <a:lnTo>
                  <a:pt x="7660937" y="0"/>
                </a:lnTo>
                <a:lnTo>
                  <a:pt x="7660937" y="6032988"/>
                </a:lnTo>
                <a:lnTo>
                  <a:pt x="0" y="6032988"/>
                </a:lnTo>
                <a:lnTo>
                  <a:pt x="0" y="0"/>
                </a:lnTo>
                <a:close/>
              </a:path>
            </a:pathLst>
          </a:custGeom>
          <a:blipFill>
            <a:blip r:embed="rId6"/>
            <a:stretch>
              <a:fillRect l="0" t="0" r="0" b="0"/>
            </a:stretch>
          </a:blipFill>
        </p:spPr>
      </p:sp>
      <p:sp>
        <p:nvSpPr>
          <p:cNvPr name="TextBox 5" id="5"/>
          <p:cNvSpPr txBox="true"/>
          <p:nvPr/>
        </p:nvSpPr>
        <p:spPr>
          <a:xfrm rot="0">
            <a:off x="1028700" y="100848"/>
            <a:ext cx="11216426" cy="2728660"/>
          </a:xfrm>
          <a:prstGeom prst="rect">
            <a:avLst/>
          </a:prstGeom>
        </p:spPr>
        <p:txBody>
          <a:bodyPr anchor="t" rtlCol="false" tIns="0" lIns="0" bIns="0" rIns="0">
            <a:spAutoFit/>
          </a:bodyPr>
          <a:lstStyle/>
          <a:p>
            <a:pPr algn="ctr">
              <a:lnSpc>
                <a:spcPts val="10995"/>
              </a:lnSpc>
            </a:pPr>
            <a:r>
              <a:rPr lang="en-US" sz="7854">
                <a:solidFill>
                  <a:srgbClr val="F58D05"/>
                </a:solidFill>
                <a:latin typeface="League Spartan"/>
                <a:ea typeface="League Spartan"/>
                <a:cs typeface="League Spartan"/>
                <a:sym typeface="League Spartan"/>
              </a:rPr>
              <a:t>Activity Diagram</a:t>
            </a:r>
          </a:p>
          <a:p>
            <a:pPr algn="ctr">
              <a:lnSpc>
                <a:spcPts val="10995"/>
              </a:lnSpc>
              <a:spcBef>
                <a:spcPct val="0"/>
              </a:spcBef>
            </a:pPr>
            <a:r>
              <a:rPr lang="en-US" sz="7854">
                <a:solidFill>
                  <a:srgbClr val="F58D05"/>
                </a:solidFill>
                <a:latin typeface="League Spartan"/>
                <a:ea typeface="League Spartan"/>
                <a:cs typeface="League Spartan"/>
                <a:sym typeface="League Spartan"/>
              </a:rPr>
              <a:t>Manager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6472" y="3469378"/>
            <a:ext cx="3941528" cy="6694986"/>
          </a:xfrm>
          <a:custGeom>
            <a:avLst/>
            <a:gdLst/>
            <a:ahLst/>
            <a:cxnLst/>
            <a:rect r="r" b="b" t="t" l="l"/>
            <a:pathLst>
              <a:path h="6694986" w="3941528">
                <a:moveTo>
                  <a:pt x="0" y="0"/>
                </a:moveTo>
                <a:lnTo>
                  <a:pt x="3941528" y="0"/>
                </a:lnTo>
                <a:lnTo>
                  <a:pt x="3941528" y="6694986"/>
                </a:lnTo>
                <a:lnTo>
                  <a:pt x="0" y="6694986"/>
                </a:lnTo>
                <a:lnTo>
                  <a:pt x="0" y="0"/>
                </a:lnTo>
                <a:close/>
              </a:path>
            </a:pathLst>
          </a:custGeom>
          <a:blipFill>
            <a:blip r:embed="rId4">
              <a:extLst>
                <a:ext uri="{96DAC541-7B7A-43D3-8B79-37D633B846F1}">
                  <asvg:svgBlip xmlns:asvg="http://schemas.microsoft.com/office/drawing/2016/SVG/main" r:embed="rId5"/>
                </a:ext>
              </a:extLst>
            </a:blip>
            <a:stretch>
              <a:fillRect l="-65225" t="0" r="0" b="0"/>
            </a:stretch>
          </a:blipFill>
        </p:spPr>
      </p:sp>
      <p:sp>
        <p:nvSpPr>
          <p:cNvPr name="Freeform 4" id="4"/>
          <p:cNvSpPr/>
          <p:nvPr/>
        </p:nvSpPr>
        <p:spPr>
          <a:xfrm flipH="false" flipV="false" rot="0">
            <a:off x="491445" y="2829508"/>
            <a:ext cx="3517722" cy="6093691"/>
          </a:xfrm>
          <a:custGeom>
            <a:avLst/>
            <a:gdLst/>
            <a:ahLst/>
            <a:cxnLst/>
            <a:rect r="r" b="b" t="t" l="l"/>
            <a:pathLst>
              <a:path h="6093691" w="3517722">
                <a:moveTo>
                  <a:pt x="0" y="0"/>
                </a:moveTo>
                <a:lnTo>
                  <a:pt x="3517721" y="0"/>
                </a:lnTo>
                <a:lnTo>
                  <a:pt x="3517721" y="6093691"/>
                </a:lnTo>
                <a:lnTo>
                  <a:pt x="0" y="6093691"/>
                </a:lnTo>
                <a:lnTo>
                  <a:pt x="0" y="0"/>
                </a:lnTo>
                <a:close/>
              </a:path>
            </a:pathLst>
          </a:custGeom>
          <a:blipFill>
            <a:blip r:embed="rId6"/>
            <a:stretch>
              <a:fillRect l="0" t="0" r="0" b="0"/>
            </a:stretch>
          </a:blipFill>
        </p:spPr>
      </p:sp>
      <p:sp>
        <p:nvSpPr>
          <p:cNvPr name="Freeform 5" id="5"/>
          <p:cNvSpPr/>
          <p:nvPr/>
        </p:nvSpPr>
        <p:spPr>
          <a:xfrm flipH="false" flipV="false" rot="0">
            <a:off x="4383781" y="3057028"/>
            <a:ext cx="4506263" cy="2562646"/>
          </a:xfrm>
          <a:custGeom>
            <a:avLst/>
            <a:gdLst/>
            <a:ahLst/>
            <a:cxnLst/>
            <a:rect r="r" b="b" t="t" l="l"/>
            <a:pathLst>
              <a:path h="2562646" w="4506263">
                <a:moveTo>
                  <a:pt x="0" y="0"/>
                </a:moveTo>
                <a:lnTo>
                  <a:pt x="4506263" y="0"/>
                </a:lnTo>
                <a:lnTo>
                  <a:pt x="4506263" y="2562646"/>
                </a:lnTo>
                <a:lnTo>
                  <a:pt x="0" y="2562646"/>
                </a:lnTo>
                <a:lnTo>
                  <a:pt x="0" y="0"/>
                </a:lnTo>
                <a:close/>
              </a:path>
            </a:pathLst>
          </a:custGeom>
          <a:blipFill>
            <a:blip r:embed="rId7"/>
            <a:stretch>
              <a:fillRect l="0" t="0" r="0" b="0"/>
            </a:stretch>
          </a:blipFill>
        </p:spPr>
      </p:sp>
      <p:sp>
        <p:nvSpPr>
          <p:cNvPr name="Freeform 6" id="6"/>
          <p:cNvSpPr/>
          <p:nvPr/>
        </p:nvSpPr>
        <p:spPr>
          <a:xfrm flipH="false" flipV="false" rot="0">
            <a:off x="3493371" y="6181770"/>
            <a:ext cx="10853101" cy="3201665"/>
          </a:xfrm>
          <a:custGeom>
            <a:avLst/>
            <a:gdLst/>
            <a:ahLst/>
            <a:cxnLst/>
            <a:rect r="r" b="b" t="t" l="l"/>
            <a:pathLst>
              <a:path h="3201665" w="10853101">
                <a:moveTo>
                  <a:pt x="0" y="0"/>
                </a:moveTo>
                <a:lnTo>
                  <a:pt x="10853101" y="0"/>
                </a:lnTo>
                <a:lnTo>
                  <a:pt x="10853101" y="3201665"/>
                </a:lnTo>
                <a:lnTo>
                  <a:pt x="0" y="3201665"/>
                </a:lnTo>
                <a:lnTo>
                  <a:pt x="0" y="0"/>
                </a:lnTo>
                <a:close/>
              </a:path>
            </a:pathLst>
          </a:custGeom>
          <a:blipFill>
            <a:blip r:embed="rId8"/>
            <a:stretch>
              <a:fillRect l="0" t="0" r="0" b="0"/>
            </a:stretch>
          </a:blipFill>
        </p:spPr>
      </p:sp>
      <p:sp>
        <p:nvSpPr>
          <p:cNvPr name="TextBox 7" id="7"/>
          <p:cNvSpPr txBox="true"/>
          <p:nvPr/>
        </p:nvSpPr>
        <p:spPr>
          <a:xfrm rot="0">
            <a:off x="1028700" y="100848"/>
            <a:ext cx="11216426" cy="2728660"/>
          </a:xfrm>
          <a:prstGeom prst="rect">
            <a:avLst/>
          </a:prstGeom>
        </p:spPr>
        <p:txBody>
          <a:bodyPr anchor="t" rtlCol="false" tIns="0" lIns="0" bIns="0" rIns="0">
            <a:spAutoFit/>
          </a:bodyPr>
          <a:lstStyle/>
          <a:p>
            <a:pPr algn="ctr">
              <a:lnSpc>
                <a:spcPts val="10995"/>
              </a:lnSpc>
            </a:pPr>
            <a:r>
              <a:rPr lang="en-US" sz="7854">
                <a:solidFill>
                  <a:srgbClr val="F58D05"/>
                </a:solidFill>
                <a:latin typeface="League Spartan"/>
                <a:ea typeface="League Spartan"/>
                <a:cs typeface="League Spartan"/>
                <a:sym typeface="League Spartan"/>
              </a:rPr>
              <a:t>Activity Diagram</a:t>
            </a:r>
          </a:p>
          <a:p>
            <a:pPr algn="ctr">
              <a:lnSpc>
                <a:spcPts val="10995"/>
              </a:lnSpc>
              <a:spcBef>
                <a:spcPct val="0"/>
              </a:spcBef>
            </a:pPr>
            <a:r>
              <a:rPr lang="en-US" sz="7854">
                <a:solidFill>
                  <a:srgbClr val="F58D05"/>
                </a:solidFill>
                <a:latin typeface="League Spartan"/>
                <a:ea typeface="League Spartan"/>
                <a:cs typeface="League Spartan"/>
                <a:sym typeface="League Spartan"/>
              </a:rPr>
              <a:t>Relay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6472" y="3469378"/>
            <a:ext cx="3941528" cy="6694986"/>
          </a:xfrm>
          <a:custGeom>
            <a:avLst/>
            <a:gdLst/>
            <a:ahLst/>
            <a:cxnLst/>
            <a:rect r="r" b="b" t="t" l="l"/>
            <a:pathLst>
              <a:path h="6694986" w="3941528">
                <a:moveTo>
                  <a:pt x="0" y="0"/>
                </a:moveTo>
                <a:lnTo>
                  <a:pt x="3941528" y="0"/>
                </a:lnTo>
                <a:lnTo>
                  <a:pt x="3941528" y="6694986"/>
                </a:lnTo>
                <a:lnTo>
                  <a:pt x="0" y="6694986"/>
                </a:lnTo>
                <a:lnTo>
                  <a:pt x="0" y="0"/>
                </a:lnTo>
                <a:close/>
              </a:path>
            </a:pathLst>
          </a:custGeom>
          <a:blipFill>
            <a:blip r:embed="rId4">
              <a:extLst>
                <a:ext uri="{96DAC541-7B7A-43D3-8B79-37D633B846F1}">
                  <asvg:svgBlip xmlns:asvg="http://schemas.microsoft.com/office/drawing/2016/SVG/main" r:embed="rId5"/>
                </a:ext>
              </a:extLst>
            </a:blip>
            <a:stretch>
              <a:fillRect l="-65225" t="0" r="0" b="0"/>
            </a:stretch>
          </a:blipFill>
        </p:spPr>
      </p:sp>
      <p:sp>
        <p:nvSpPr>
          <p:cNvPr name="Freeform 4" id="4"/>
          <p:cNvSpPr/>
          <p:nvPr/>
        </p:nvSpPr>
        <p:spPr>
          <a:xfrm flipH="false" flipV="false" rot="0">
            <a:off x="780179" y="2829508"/>
            <a:ext cx="3893637" cy="6356958"/>
          </a:xfrm>
          <a:custGeom>
            <a:avLst/>
            <a:gdLst/>
            <a:ahLst/>
            <a:cxnLst/>
            <a:rect r="r" b="b" t="t" l="l"/>
            <a:pathLst>
              <a:path h="6356958" w="3893637">
                <a:moveTo>
                  <a:pt x="0" y="0"/>
                </a:moveTo>
                <a:lnTo>
                  <a:pt x="3893637" y="0"/>
                </a:lnTo>
                <a:lnTo>
                  <a:pt x="3893637" y="6356958"/>
                </a:lnTo>
                <a:lnTo>
                  <a:pt x="0" y="6356958"/>
                </a:lnTo>
                <a:lnTo>
                  <a:pt x="0" y="0"/>
                </a:lnTo>
                <a:close/>
              </a:path>
            </a:pathLst>
          </a:custGeom>
          <a:blipFill>
            <a:blip r:embed="rId6"/>
            <a:stretch>
              <a:fillRect l="0" t="0" r="0" b="0"/>
            </a:stretch>
          </a:blipFill>
        </p:spPr>
      </p:sp>
      <p:sp>
        <p:nvSpPr>
          <p:cNvPr name="Freeform 5" id="5"/>
          <p:cNvSpPr/>
          <p:nvPr/>
        </p:nvSpPr>
        <p:spPr>
          <a:xfrm flipH="false" flipV="false" rot="0">
            <a:off x="4960114" y="4039812"/>
            <a:ext cx="7867264" cy="3068233"/>
          </a:xfrm>
          <a:custGeom>
            <a:avLst/>
            <a:gdLst/>
            <a:ahLst/>
            <a:cxnLst/>
            <a:rect r="r" b="b" t="t" l="l"/>
            <a:pathLst>
              <a:path h="3068233" w="7867264">
                <a:moveTo>
                  <a:pt x="0" y="0"/>
                </a:moveTo>
                <a:lnTo>
                  <a:pt x="7867264" y="0"/>
                </a:lnTo>
                <a:lnTo>
                  <a:pt x="7867264" y="3068233"/>
                </a:lnTo>
                <a:lnTo>
                  <a:pt x="0" y="3068233"/>
                </a:lnTo>
                <a:lnTo>
                  <a:pt x="0" y="0"/>
                </a:lnTo>
                <a:close/>
              </a:path>
            </a:pathLst>
          </a:custGeom>
          <a:blipFill>
            <a:blip r:embed="rId7"/>
            <a:stretch>
              <a:fillRect l="0" t="0" r="0" b="0"/>
            </a:stretch>
          </a:blipFill>
        </p:spPr>
      </p:sp>
      <p:sp>
        <p:nvSpPr>
          <p:cNvPr name="TextBox 6" id="6"/>
          <p:cNvSpPr txBox="true"/>
          <p:nvPr/>
        </p:nvSpPr>
        <p:spPr>
          <a:xfrm rot="0">
            <a:off x="1028700" y="100848"/>
            <a:ext cx="11216426" cy="2728660"/>
          </a:xfrm>
          <a:prstGeom prst="rect">
            <a:avLst/>
          </a:prstGeom>
        </p:spPr>
        <p:txBody>
          <a:bodyPr anchor="t" rtlCol="false" tIns="0" lIns="0" bIns="0" rIns="0">
            <a:spAutoFit/>
          </a:bodyPr>
          <a:lstStyle/>
          <a:p>
            <a:pPr algn="ctr">
              <a:lnSpc>
                <a:spcPts val="10995"/>
              </a:lnSpc>
            </a:pPr>
            <a:r>
              <a:rPr lang="en-US" sz="7854">
                <a:solidFill>
                  <a:srgbClr val="F58D05"/>
                </a:solidFill>
                <a:latin typeface="League Spartan"/>
                <a:ea typeface="League Spartan"/>
                <a:cs typeface="League Spartan"/>
                <a:sym typeface="League Spartan"/>
              </a:rPr>
              <a:t>Activity Diagram</a:t>
            </a:r>
          </a:p>
          <a:p>
            <a:pPr algn="ctr">
              <a:lnSpc>
                <a:spcPts val="10995"/>
              </a:lnSpc>
              <a:spcBef>
                <a:spcPct val="0"/>
              </a:spcBef>
            </a:pPr>
            <a:r>
              <a:rPr lang="en-US" sz="7854">
                <a:solidFill>
                  <a:srgbClr val="F58D05"/>
                </a:solidFill>
                <a:latin typeface="League Spartan"/>
                <a:ea typeface="League Spartan"/>
                <a:cs typeface="League Spartan"/>
                <a:sym typeface="League Spartan"/>
              </a:rPr>
              <a:t>User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717282">
            <a:off x="-11088297" y="7931190"/>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84225" y="7477069"/>
            <a:ext cx="6719550" cy="2162231"/>
          </a:xfrm>
          <a:custGeom>
            <a:avLst/>
            <a:gdLst/>
            <a:ahLst/>
            <a:cxnLst/>
            <a:rect r="r" b="b" t="t" l="l"/>
            <a:pathLst>
              <a:path h="2162231" w="6719550">
                <a:moveTo>
                  <a:pt x="0" y="0"/>
                </a:moveTo>
                <a:lnTo>
                  <a:pt x="6719550" y="0"/>
                </a:lnTo>
                <a:lnTo>
                  <a:pt x="6719550" y="2162231"/>
                </a:lnTo>
                <a:lnTo>
                  <a:pt x="0" y="2162231"/>
                </a:lnTo>
                <a:lnTo>
                  <a:pt x="0" y="0"/>
                </a:lnTo>
                <a:close/>
              </a:path>
            </a:pathLst>
          </a:custGeom>
          <a:blipFill>
            <a:blip r:embed="rId4"/>
            <a:stretch>
              <a:fillRect l="0" t="0" r="0" b="0"/>
            </a:stretch>
          </a:blipFill>
        </p:spPr>
      </p:sp>
      <p:sp>
        <p:nvSpPr>
          <p:cNvPr name="Freeform 4" id="4"/>
          <p:cNvSpPr/>
          <p:nvPr/>
        </p:nvSpPr>
        <p:spPr>
          <a:xfrm flipH="false" flipV="false" rot="0">
            <a:off x="1028700" y="3119981"/>
            <a:ext cx="6507279" cy="3601357"/>
          </a:xfrm>
          <a:custGeom>
            <a:avLst/>
            <a:gdLst/>
            <a:ahLst/>
            <a:cxnLst/>
            <a:rect r="r" b="b" t="t" l="l"/>
            <a:pathLst>
              <a:path h="3601357" w="6507279">
                <a:moveTo>
                  <a:pt x="0" y="0"/>
                </a:moveTo>
                <a:lnTo>
                  <a:pt x="6507279" y="0"/>
                </a:lnTo>
                <a:lnTo>
                  <a:pt x="6507279" y="3601357"/>
                </a:lnTo>
                <a:lnTo>
                  <a:pt x="0" y="3601357"/>
                </a:lnTo>
                <a:lnTo>
                  <a:pt x="0" y="0"/>
                </a:lnTo>
                <a:close/>
              </a:path>
            </a:pathLst>
          </a:custGeom>
          <a:blipFill>
            <a:blip r:embed="rId5"/>
            <a:stretch>
              <a:fillRect l="0" t="0" r="0" b="0"/>
            </a:stretch>
          </a:blipFill>
        </p:spPr>
      </p:sp>
      <p:sp>
        <p:nvSpPr>
          <p:cNvPr name="Freeform 5" id="5"/>
          <p:cNvSpPr/>
          <p:nvPr/>
        </p:nvSpPr>
        <p:spPr>
          <a:xfrm flipH="false" flipV="false" rot="0">
            <a:off x="10754568" y="3119981"/>
            <a:ext cx="6896322" cy="3660355"/>
          </a:xfrm>
          <a:custGeom>
            <a:avLst/>
            <a:gdLst/>
            <a:ahLst/>
            <a:cxnLst/>
            <a:rect r="r" b="b" t="t" l="l"/>
            <a:pathLst>
              <a:path h="3660355" w="6896322">
                <a:moveTo>
                  <a:pt x="0" y="0"/>
                </a:moveTo>
                <a:lnTo>
                  <a:pt x="6896322" y="0"/>
                </a:lnTo>
                <a:lnTo>
                  <a:pt x="6896322" y="3660355"/>
                </a:lnTo>
                <a:lnTo>
                  <a:pt x="0" y="3660355"/>
                </a:lnTo>
                <a:lnTo>
                  <a:pt x="0" y="0"/>
                </a:lnTo>
                <a:close/>
              </a:path>
            </a:pathLst>
          </a:custGeom>
          <a:blipFill>
            <a:blip r:embed="rId6"/>
            <a:stretch>
              <a:fillRect l="0" t="0" r="0" b="0"/>
            </a:stretch>
          </a:blipFill>
        </p:spPr>
      </p:sp>
      <p:sp>
        <p:nvSpPr>
          <p:cNvPr name="TextBox 6" id="6"/>
          <p:cNvSpPr txBox="true"/>
          <p:nvPr/>
        </p:nvSpPr>
        <p:spPr>
          <a:xfrm rot="0">
            <a:off x="3535787" y="885825"/>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STANZA</a:t>
            </a:r>
          </a:p>
        </p:txBody>
      </p:sp>
      <p:sp>
        <p:nvSpPr>
          <p:cNvPr name="TextBox 7" id="7"/>
          <p:cNvSpPr txBox="true"/>
          <p:nvPr/>
        </p:nvSpPr>
        <p:spPr>
          <a:xfrm rot="0">
            <a:off x="-2072426" y="2256381"/>
            <a:ext cx="11216426" cy="863600"/>
          </a:xfrm>
          <a:prstGeom prst="rect">
            <a:avLst/>
          </a:prstGeom>
        </p:spPr>
        <p:txBody>
          <a:bodyPr anchor="t" rtlCol="false" tIns="0" lIns="0" bIns="0" rIns="0">
            <a:spAutoFit/>
          </a:bodyPr>
          <a:lstStyle/>
          <a:p>
            <a:pPr algn="ctr">
              <a:lnSpc>
                <a:spcPts val="7000"/>
              </a:lnSpc>
              <a:spcBef>
                <a:spcPct val="0"/>
              </a:spcBef>
            </a:pPr>
            <a:r>
              <a:rPr lang="en-US" sz="5000">
                <a:solidFill>
                  <a:srgbClr val="F58D05"/>
                </a:solidFill>
                <a:latin typeface="League Spartan"/>
                <a:ea typeface="League Spartan"/>
                <a:cs typeface="League Spartan"/>
                <a:sym typeface="League Spartan"/>
              </a:rPr>
              <a:t>MESSAGE</a:t>
            </a:r>
          </a:p>
        </p:txBody>
      </p:sp>
      <p:sp>
        <p:nvSpPr>
          <p:cNvPr name="TextBox 8" id="8"/>
          <p:cNvSpPr txBox="true"/>
          <p:nvPr/>
        </p:nvSpPr>
        <p:spPr>
          <a:xfrm rot="0">
            <a:off x="8594516" y="2256381"/>
            <a:ext cx="11216426" cy="863600"/>
          </a:xfrm>
          <a:prstGeom prst="rect">
            <a:avLst/>
          </a:prstGeom>
        </p:spPr>
        <p:txBody>
          <a:bodyPr anchor="t" rtlCol="false" tIns="0" lIns="0" bIns="0" rIns="0">
            <a:spAutoFit/>
          </a:bodyPr>
          <a:lstStyle/>
          <a:p>
            <a:pPr algn="ctr">
              <a:lnSpc>
                <a:spcPts val="7000"/>
              </a:lnSpc>
              <a:spcBef>
                <a:spcPct val="0"/>
              </a:spcBef>
            </a:pPr>
            <a:r>
              <a:rPr lang="en-US" sz="5000">
                <a:solidFill>
                  <a:srgbClr val="F58D05"/>
                </a:solidFill>
                <a:latin typeface="League Spartan"/>
                <a:ea typeface="League Spartan"/>
                <a:cs typeface="League Spartan"/>
                <a:sym typeface="League Spartan"/>
              </a:rPr>
              <a:t>Info/Query (IQ)</a:t>
            </a:r>
          </a:p>
        </p:txBody>
      </p:sp>
      <p:sp>
        <p:nvSpPr>
          <p:cNvPr name="TextBox 9" id="9"/>
          <p:cNvSpPr txBox="true"/>
          <p:nvPr/>
        </p:nvSpPr>
        <p:spPr>
          <a:xfrm rot="0">
            <a:off x="3535787" y="6613469"/>
            <a:ext cx="11216426" cy="863600"/>
          </a:xfrm>
          <a:prstGeom prst="rect">
            <a:avLst/>
          </a:prstGeom>
        </p:spPr>
        <p:txBody>
          <a:bodyPr anchor="t" rtlCol="false" tIns="0" lIns="0" bIns="0" rIns="0">
            <a:spAutoFit/>
          </a:bodyPr>
          <a:lstStyle/>
          <a:p>
            <a:pPr algn="ctr">
              <a:lnSpc>
                <a:spcPts val="7000"/>
              </a:lnSpc>
              <a:spcBef>
                <a:spcPct val="0"/>
              </a:spcBef>
            </a:pPr>
            <a:r>
              <a:rPr lang="en-US" sz="5000">
                <a:solidFill>
                  <a:srgbClr val="F58D05"/>
                </a:solidFill>
                <a:latin typeface="League Spartan"/>
                <a:ea typeface="League Spartan"/>
                <a:cs typeface="League Spartan"/>
                <a:sym typeface="League Spartan"/>
              </a:rPr>
              <a:t>Presence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717282">
            <a:off x="-8992797" y="7931190"/>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943053" y="3223583"/>
            <a:ext cx="5344947" cy="7063417"/>
          </a:xfrm>
          <a:custGeom>
            <a:avLst/>
            <a:gdLst/>
            <a:ahLst/>
            <a:cxnLst/>
            <a:rect r="r" b="b" t="t" l="l"/>
            <a:pathLst>
              <a:path h="7063417" w="5344947">
                <a:moveTo>
                  <a:pt x="0" y="0"/>
                </a:moveTo>
                <a:lnTo>
                  <a:pt x="5344947" y="0"/>
                </a:lnTo>
                <a:lnTo>
                  <a:pt x="5344947" y="7063417"/>
                </a:lnTo>
                <a:lnTo>
                  <a:pt x="0" y="70634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0" y="1278313"/>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Alat dan Bahan</a:t>
            </a:r>
          </a:p>
        </p:txBody>
      </p:sp>
      <p:sp>
        <p:nvSpPr>
          <p:cNvPr name="TextBox 5" id="5"/>
          <p:cNvSpPr txBox="true"/>
          <p:nvPr/>
        </p:nvSpPr>
        <p:spPr>
          <a:xfrm rot="0">
            <a:off x="1028700" y="2825559"/>
            <a:ext cx="9462063" cy="4024983"/>
          </a:xfrm>
          <a:prstGeom prst="rect">
            <a:avLst/>
          </a:prstGeom>
        </p:spPr>
        <p:txBody>
          <a:bodyPr anchor="t" rtlCol="false" tIns="0" lIns="0" bIns="0" rIns="0">
            <a:spAutoFit/>
          </a:bodyPr>
          <a:lstStyle/>
          <a:p>
            <a:pPr algn="just" marL="980052" indent="-490026" lvl="1">
              <a:lnSpc>
                <a:spcPts val="6355"/>
              </a:lnSpc>
              <a:buFont typeface="Arial"/>
              <a:buChar char="•"/>
            </a:pPr>
            <a:r>
              <a:rPr lang="en-US" sz="4539">
                <a:solidFill>
                  <a:srgbClr val="866255"/>
                </a:solidFill>
                <a:latin typeface="Arimo"/>
                <a:ea typeface="Arimo"/>
                <a:cs typeface="Arimo"/>
                <a:sym typeface="Arimo"/>
              </a:rPr>
              <a:t>VSCode</a:t>
            </a:r>
          </a:p>
          <a:p>
            <a:pPr algn="just" marL="980052" indent="-490026" lvl="1">
              <a:lnSpc>
                <a:spcPts val="6355"/>
              </a:lnSpc>
              <a:buFont typeface="Arial"/>
              <a:buChar char="•"/>
            </a:pPr>
            <a:r>
              <a:rPr lang="en-US" sz="4539">
                <a:solidFill>
                  <a:srgbClr val="866255"/>
                </a:solidFill>
                <a:latin typeface="Arimo"/>
                <a:ea typeface="Arimo"/>
                <a:cs typeface="Arimo"/>
                <a:sym typeface="Arimo"/>
              </a:rPr>
              <a:t>Python 3</a:t>
            </a:r>
          </a:p>
          <a:p>
            <a:pPr algn="just" marL="980052" indent="-490026" lvl="1">
              <a:lnSpc>
                <a:spcPts val="6355"/>
              </a:lnSpc>
              <a:buFont typeface="Arial"/>
              <a:buChar char="•"/>
            </a:pPr>
            <a:r>
              <a:rPr lang="en-US" sz="4539">
                <a:solidFill>
                  <a:srgbClr val="866255"/>
                </a:solidFill>
                <a:latin typeface="Arimo"/>
                <a:ea typeface="Arimo"/>
                <a:cs typeface="Arimo"/>
                <a:sym typeface="Arimo"/>
              </a:rPr>
              <a:t>SQLite3</a:t>
            </a:r>
          </a:p>
          <a:p>
            <a:pPr algn="just" marL="980052" indent="-490026" lvl="1">
              <a:lnSpc>
                <a:spcPts val="6355"/>
              </a:lnSpc>
              <a:buFont typeface="Arial"/>
              <a:buChar char="•"/>
            </a:pPr>
            <a:r>
              <a:rPr lang="en-US" sz="4539">
                <a:solidFill>
                  <a:srgbClr val="866255"/>
                </a:solidFill>
                <a:latin typeface="Arimo"/>
                <a:ea typeface="Arimo"/>
                <a:cs typeface="Arimo"/>
                <a:sym typeface="Arimo"/>
              </a:rPr>
              <a:t>Dua buah VPS</a:t>
            </a:r>
          </a:p>
          <a:p>
            <a:pPr algn="just" marL="980052" indent="-490026" lvl="1">
              <a:lnSpc>
                <a:spcPts val="6355"/>
              </a:lnSpc>
              <a:buFont typeface="Arial"/>
              <a:buChar char="•"/>
            </a:pPr>
            <a:r>
              <a:rPr lang="en-US" sz="4539">
                <a:solidFill>
                  <a:srgbClr val="866255"/>
                </a:solidFill>
                <a:latin typeface="Arimo"/>
                <a:ea typeface="Arimo"/>
                <a:cs typeface="Arimo"/>
                <a:sym typeface="Arimo"/>
              </a:rPr>
              <a:t>Komputer/laptop</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6472" y="3469378"/>
            <a:ext cx="3941528" cy="6694986"/>
          </a:xfrm>
          <a:custGeom>
            <a:avLst/>
            <a:gdLst/>
            <a:ahLst/>
            <a:cxnLst/>
            <a:rect r="r" b="b" t="t" l="l"/>
            <a:pathLst>
              <a:path h="6694986" w="3941528">
                <a:moveTo>
                  <a:pt x="0" y="0"/>
                </a:moveTo>
                <a:lnTo>
                  <a:pt x="3941528" y="0"/>
                </a:lnTo>
                <a:lnTo>
                  <a:pt x="3941528" y="6694986"/>
                </a:lnTo>
                <a:lnTo>
                  <a:pt x="0" y="6694986"/>
                </a:lnTo>
                <a:lnTo>
                  <a:pt x="0" y="0"/>
                </a:lnTo>
                <a:close/>
              </a:path>
            </a:pathLst>
          </a:custGeom>
          <a:blipFill>
            <a:blip r:embed="rId4">
              <a:extLst>
                <a:ext uri="{96DAC541-7B7A-43D3-8B79-37D633B846F1}">
                  <asvg:svgBlip xmlns:asvg="http://schemas.microsoft.com/office/drawing/2016/SVG/main" r:embed="rId5"/>
                </a:ext>
              </a:extLst>
            </a:blip>
            <a:stretch>
              <a:fillRect l="-65225" t="0" r="0" b="0"/>
            </a:stretch>
          </a:blipFill>
        </p:spPr>
      </p:sp>
      <p:sp>
        <p:nvSpPr>
          <p:cNvPr name="TextBox 4" id="4"/>
          <p:cNvSpPr txBox="true"/>
          <p:nvPr/>
        </p:nvSpPr>
        <p:spPr>
          <a:xfrm rot="0">
            <a:off x="2537355" y="1545328"/>
            <a:ext cx="3971588" cy="1924050"/>
          </a:xfrm>
          <a:prstGeom prst="rect">
            <a:avLst/>
          </a:prstGeom>
        </p:spPr>
        <p:txBody>
          <a:bodyPr anchor="t" rtlCol="false" tIns="0" lIns="0" bIns="0" rIns="0">
            <a:spAutoFit/>
          </a:bodyPr>
          <a:lstStyle/>
          <a:p>
            <a:pPr algn="just">
              <a:lnSpc>
                <a:spcPts val="5040"/>
              </a:lnSpc>
            </a:pPr>
            <a:r>
              <a:rPr lang="en-US" sz="3600">
                <a:solidFill>
                  <a:srgbClr val="866255"/>
                </a:solidFill>
                <a:latin typeface="Arimo"/>
                <a:ea typeface="Arimo"/>
                <a:cs typeface="Arimo"/>
                <a:sym typeface="Arimo"/>
              </a:rPr>
              <a:t>VPS pertama:</a:t>
            </a:r>
          </a:p>
          <a:p>
            <a:pPr algn="just" marL="777240" indent="-388620" lvl="1">
              <a:lnSpc>
                <a:spcPts val="5040"/>
              </a:lnSpc>
              <a:buFont typeface="Arial"/>
              <a:buChar char="•"/>
            </a:pPr>
            <a:r>
              <a:rPr lang="en-US" sz="3600">
                <a:solidFill>
                  <a:srgbClr val="866255"/>
                </a:solidFill>
                <a:latin typeface="Arimo"/>
                <a:ea typeface="Arimo"/>
                <a:cs typeface="Arimo"/>
                <a:sym typeface="Arimo"/>
              </a:rPr>
              <a:t>Tracker</a:t>
            </a:r>
          </a:p>
          <a:p>
            <a:pPr algn="just" marL="777240" indent="-388620" lvl="1">
              <a:lnSpc>
                <a:spcPts val="5040"/>
              </a:lnSpc>
              <a:buFont typeface="Arial"/>
              <a:buChar char="•"/>
            </a:pPr>
            <a:r>
              <a:rPr lang="en-US" sz="3600">
                <a:solidFill>
                  <a:srgbClr val="866255"/>
                </a:solidFill>
                <a:latin typeface="Arimo"/>
                <a:ea typeface="Arimo"/>
                <a:cs typeface="Arimo"/>
                <a:sym typeface="Arimo"/>
              </a:rPr>
              <a:t>Relay junior.</a:t>
            </a:r>
          </a:p>
        </p:txBody>
      </p:sp>
      <p:sp>
        <p:nvSpPr>
          <p:cNvPr name="TextBox 5" id="5"/>
          <p:cNvSpPr txBox="true"/>
          <p:nvPr/>
        </p:nvSpPr>
        <p:spPr>
          <a:xfrm rot="0">
            <a:off x="2108775" y="289252"/>
            <a:ext cx="14070451"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RANCANGAN PENGUJIAN</a:t>
            </a:r>
          </a:p>
        </p:txBody>
      </p:sp>
      <p:sp>
        <p:nvSpPr>
          <p:cNvPr name="TextBox 6" id="6"/>
          <p:cNvSpPr txBox="true"/>
          <p:nvPr/>
        </p:nvSpPr>
        <p:spPr>
          <a:xfrm rot="0">
            <a:off x="6810883" y="1545328"/>
            <a:ext cx="3971588" cy="1924050"/>
          </a:xfrm>
          <a:prstGeom prst="rect">
            <a:avLst/>
          </a:prstGeom>
        </p:spPr>
        <p:txBody>
          <a:bodyPr anchor="t" rtlCol="false" tIns="0" lIns="0" bIns="0" rIns="0">
            <a:spAutoFit/>
          </a:bodyPr>
          <a:lstStyle/>
          <a:p>
            <a:pPr algn="just">
              <a:lnSpc>
                <a:spcPts val="5039"/>
              </a:lnSpc>
            </a:pPr>
            <a:r>
              <a:rPr lang="en-US" sz="3599">
                <a:solidFill>
                  <a:srgbClr val="866255"/>
                </a:solidFill>
                <a:latin typeface="Arimo"/>
                <a:ea typeface="Arimo"/>
                <a:cs typeface="Arimo"/>
                <a:sym typeface="Arimo"/>
              </a:rPr>
              <a:t>VPS kedua:</a:t>
            </a:r>
          </a:p>
          <a:p>
            <a:pPr algn="just" marL="777240" indent="-388620" lvl="1">
              <a:lnSpc>
                <a:spcPts val="5039"/>
              </a:lnSpc>
              <a:buFont typeface="Arial"/>
              <a:buChar char="•"/>
            </a:pPr>
            <a:r>
              <a:rPr lang="en-US" sz="3599">
                <a:solidFill>
                  <a:srgbClr val="866255"/>
                </a:solidFill>
                <a:latin typeface="Arimo"/>
                <a:ea typeface="Arimo"/>
                <a:cs typeface="Arimo"/>
                <a:sym typeface="Arimo"/>
              </a:rPr>
              <a:t>Manager</a:t>
            </a:r>
          </a:p>
          <a:p>
            <a:pPr algn="just" marL="777240" indent="-388620" lvl="1">
              <a:lnSpc>
                <a:spcPts val="5039"/>
              </a:lnSpc>
              <a:buFont typeface="Arial"/>
              <a:buChar char="•"/>
            </a:pPr>
            <a:r>
              <a:rPr lang="en-US" sz="3599">
                <a:solidFill>
                  <a:srgbClr val="866255"/>
                </a:solidFill>
                <a:latin typeface="Arimo"/>
                <a:ea typeface="Arimo"/>
                <a:cs typeface="Arimo"/>
                <a:sym typeface="Arimo"/>
              </a:rPr>
              <a:t>Relay senior.</a:t>
            </a:r>
          </a:p>
        </p:txBody>
      </p:sp>
      <p:sp>
        <p:nvSpPr>
          <p:cNvPr name="TextBox 7" id="7"/>
          <p:cNvSpPr txBox="true"/>
          <p:nvPr/>
        </p:nvSpPr>
        <p:spPr>
          <a:xfrm rot="0">
            <a:off x="276021" y="4283729"/>
            <a:ext cx="14070451"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METRIK PENGUJIAN</a:t>
            </a:r>
          </a:p>
        </p:txBody>
      </p:sp>
      <p:sp>
        <p:nvSpPr>
          <p:cNvPr name="TextBox 8" id="8"/>
          <p:cNvSpPr txBox="true"/>
          <p:nvPr/>
        </p:nvSpPr>
        <p:spPr>
          <a:xfrm rot="0">
            <a:off x="2108775" y="6156244"/>
            <a:ext cx="4400167" cy="641985"/>
          </a:xfrm>
          <a:prstGeom prst="rect">
            <a:avLst/>
          </a:prstGeom>
        </p:spPr>
        <p:txBody>
          <a:bodyPr anchor="t" rtlCol="false" tIns="0" lIns="0" bIns="0" rIns="0">
            <a:spAutoFit/>
          </a:bodyPr>
          <a:lstStyle/>
          <a:p>
            <a:pPr algn="just">
              <a:lnSpc>
                <a:spcPts val="5040"/>
              </a:lnSpc>
            </a:pPr>
            <a:r>
              <a:rPr lang="en-US" b="true" sz="3600">
                <a:solidFill>
                  <a:srgbClr val="866255"/>
                </a:solidFill>
                <a:latin typeface="Arimo Bold"/>
                <a:ea typeface="Arimo Bold"/>
                <a:cs typeface="Arimo Bold"/>
                <a:sym typeface="Arimo Bold"/>
              </a:rPr>
              <a:t>Proses komunikasi</a:t>
            </a:r>
          </a:p>
        </p:txBody>
      </p:sp>
      <p:sp>
        <p:nvSpPr>
          <p:cNvPr name="TextBox 9" id="9"/>
          <p:cNvSpPr txBox="true"/>
          <p:nvPr/>
        </p:nvSpPr>
        <p:spPr>
          <a:xfrm rot="0">
            <a:off x="8922614" y="6156244"/>
            <a:ext cx="3971588" cy="641985"/>
          </a:xfrm>
          <a:prstGeom prst="rect">
            <a:avLst/>
          </a:prstGeom>
        </p:spPr>
        <p:txBody>
          <a:bodyPr anchor="t" rtlCol="false" tIns="0" lIns="0" bIns="0" rIns="0">
            <a:spAutoFit/>
          </a:bodyPr>
          <a:lstStyle/>
          <a:p>
            <a:pPr algn="just">
              <a:lnSpc>
                <a:spcPts val="5040"/>
              </a:lnSpc>
            </a:pPr>
            <a:r>
              <a:rPr lang="en-US" b="true" sz="3600">
                <a:solidFill>
                  <a:srgbClr val="866255"/>
                </a:solidFill>
                <a:latin typeface="Arimo Bold"/>
                <a:ea typeface="Arimo Bold"/>
                <a:cs typeface="Arimo Bold"/>
                <a:sym typeface="Arimo Bold"/>
              </a:rPr>
              <a:t>Konsistensi data</a:t>
            </a:r>
          </a:p>
        </p:txBody>
      </p:sp>
      <p:sp>
        <p:nvSpPr>
          <p:cNvPr name="TextBox 10" id="10"/>
          <p:cNvSpPr txBox="true"/>
          <p:nvPr/>
        </p:nvSpPr>
        <p:spPr>
          <a:xfrm rot="0">
            <a:off x="5893666" y="7458349"/>
            <a:ext cx="3530152" cy="641985"/>
          </a:xfrm>
          <a:prstGeom prst="rect">
            <a:avLst/>
          </a:prstGeom>
        </p:spPr>
        <p:txBody>
          <a:bodyPr anchor="t" rtlCol="false" tIns="0" lIns="0" bIns="0" rIns="0">
            <a:spAutoFit/>
          </a:bodyPr>
          <a:lstStyle/>
          <a:p>
            <a:pPr algn="just">
              <a:lnSpc>
                <a:spcPts val="5040"/>
              </a:lnSpc>
            </a:pPr>
            <a:r>
              <a:rPr lang="en-US" b="true" sz="3600">
                <a:solidFill>
                  <a:srgbClr val="866255"/>
                </a:solidFill>
                <a:latin typeface="Arimo Bold"/>
                <a:ea typeface="Arimo Bold"/>
                <a:cs typeface="Arimo Bold"/>
                <a:sym typeface="Arimo Bold"/>
              </a:rPr>
              <a:t>Fungsionalitas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6472" y="3469378"/>
            <a:ext cx="3941528" cy="6694986"/>
          </a:xfrm>
          <a:custGeom>
            <a:avLst/>
            <a:gdLst/>
            <a:ahLst/>
            <a:cxnLst/>
            <a:rect r="r" b="b" t="t" l="l"/>
            <a:pathLst>
              <a:path h="6694986" w="3941528">
                <a:moveTo>
                  <a:pt x="0" y="0"/>
                </a:moveTo>
                <a:lnTo>
                  <a:pt x="3941528" y="0"/>
                </a:lnTo>
                <a:lnTo>
                  <a:pt x="3941528" y="6694986"/>
                </a:lnTo>
                <a:lnTo>
                  <a:pt x="0" y="6694986"/>
                </a:lnTo>
                <a:lnTo>
                  <a:pt x="0" y="0"/>
                </a:lnTo>
                <a:close/>
              </a:path>
            </a:pathLst>
          </a:custGeom>
          <a:blipFill>
            <a:blip r:embed="rId4">
              <a:extLst>
                <a:ext uri="{96DAC541-7B7A-43D3-8B79-37D633B846F1}">
                  <asvg:svgBlip xmlns:asvg="http://schemas.microsoft.com/office/drawing/2016/SVG/main" r:embed="rId5"/>
                </a:ext>
              </a:extLst>
            </a:blip>
            <a:stretch>
              <a:fillRect l="-65225" t="0" r="0" b="0"/>
            </a:stretch>
          </a:blipFill>
        </p:spPr>
      </p:sp>
      <p:sp>
        <p:nvSpPr>
          <p:cNvPr name="TextBox 4" id="4"/>
          <p:cNvSpPr txBox="true"/>
          <p:nvPr/>
        </p:nvSpPr>
        <p:spPr>
          <a:xfrm rot="0">
            <a:off x="2108775" y="289252"/>
            <a:ext cx="14070451"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PERUBAHAN DARI SPS</a:t>
            </a:r>
          </a:p>
        </p:txBody>
      </p:sp>
      <p:sp>
        <p:nvSpPr>
          <p:cNvPr name="TextBox 5" id="5"/>
          <p:cNvSpPr txBox="true"/>
          <p:nvPr/>
        </p:nvSpPr>
        <p:spPr>
          <a:xfrm rot="0">
            <a:off x="1149722" y="1545328"/>
            <a:ext cx="12911000" cy="1960626"/>
          </a:xfrm>
          <a:prstGeom prst="rect">
            <a:avLst/>
          </a:prstGeom>
        </p:spPr>
        <p:txBody>
          <a:bodyPr anchor="t" rtlCol="false" tIns="0" lIns="0" bIns="0" rIns="0">
            <a:spAutoFit/>
          </a:bodyPr>
          <a:lstStyle/>
          <a:p>
            <a:pPr algn="just">
              <a:lnSpc>
                <a:spcPts val="5039"/>
              </a:lnSpc>
            </a:pPr>
            <a:r>
              <a:rPr lang="en-US" sz="3599">
                <a:solidFill>
                  <a:srgbClr val="866255"/>
                </a:solidFill>
                <a:latin typeface="Arimo"/>
                <a:ea typeface="Arimo"/>
                <a:cs typeface="Arimo"/>
                <a:sym typeface="Arimo"/>
              </a:rPr>
              <a:t>Manager saat SPS memiliki fitur:</a:t>
            </a:r>
          </a:p>
          <a:p>
            <a:pPr algn="just" marL="777240" indent="-388620" lvl="1">
              <a:lnSpc>
                <a:spcPts val="5039"/>
              </a:lnSpc>
              <a:buFont typeface="Arial"/>
              <a:buChar char="•"/>
            </a:pPr>
            <a:r>
              <a:rPr lang="en-US" sz="3599">
                <a:solidFill>
                  <a:srgbClr val="866255"/>
                </a:solidFill>
                <a:latin typeface="Arimo"/>
                <a:ea typeface="Arimo"/>
                <a:cs typeface="Arimo"/>
                <a:sym typeface="Arimo"/>
              </a:rPr>
              <a:t>Mengelola jumlah user yang terkoneksi dengan relay.</a:t>
            </a:r>
          </a:p>
          <a:p>
            <a:pPr algn="just" marL="777240" indent="-388620" lvl="1">
              <a:lnSpc>
                <a:spcPts val="5039"/>
              </a:lnSpc>
              <a:buFont typeface="Arial"/>
              <a:buChar char="•"/>
            </a:pPr>
            <a:r>
              <a:rPr lang="en-US" sz="3599">
                <a:solidFill>
                  <a:srgbClr val="866255"/>
                </a:solidFill>
                <a:latin typeface="Arimo"/>
                <a:ea typeface="Arimo"/>
                <a:cs typeface="Arimo"/>
                <a:sym typeface="Arimo"/>
              </a:rPr>
              <a:t>Menerima pesan NCIR atau ECIR dari relay.</a:t>
            </a:r>
          </a:p>
        </p:txBody>
      </p:sp>
      <p:sp>
        <p:nvSpPr>
          <p:cNvPr name="TextBox 6" id="6"/>
          <p:cNvSpPr txBox="true"/>
          <p:nvPr/>
        </p:nvSpPr>
        <p:spPr>
          <a:xfrm rot="0">
            <a:off x="1028700" y="4088938"/>
            <a:ext cx="12911000" cy="3277362"/>
          </a:xfrm>
          <a:prstGeom prst="rect">
            <a:avLst/>
          </a:prstGeom>
        </p:spPr>
        <p:txBody>
          <a:bodyPr anchor="t" rtlCol="false" tIns="0" lIns="0" bIns="0" rIns="0">
            <a:spAutoFit/>
          </a:bodyPr>
          <a:lstStyle/>
          <a:p>
            <a:pPr algn="just">
              <a:lnSpc>
                <a:spcPts val="5039"/>
              </a:lnSpc>
            </a:pPr>
            <a:r>
              <a:rPr lang="en-US" sz="3599">
                <a:solidFill>
                  <a:srgbClr val="866255"/>
                </a:solidFill>
                <a:latin typeface="Arimo"/>
                <a:ea typeface="Arimo"/>
                <a:cs typeface="Arimo"/>
                <a:sym typeface="Arimo"/>
              </a:rPr>
              <a:t>Manager ditambahkan fitur:</a:t>
            </a:r>
          </a:p>
          <a:p>
            <a:pPr algn="just" marL="777240" indent="-388620" lvl="1">
              <a:lnSpc>
                <a:spcPts val="5039"/>
              </a:lnSpc>
              <a:buFont typeface="Arial"/>
              <a:buChar char="•"/>
            </a:pPr>
            <a:r>
              <a:rPr lang="en-US" sz="3599">
                <a:solidFill>
                  <a:srgbClr val="866255"/>
                </a:solidFill>
                <a:latin typeface="Arimo"/>
                <a:ea typeface="Arimo"/>
                <a:cs typeface="Arimo"/>
                <a:sym typeface="Arimo"/>
              </a:rPr>
              <a:t>Pengelolaan autentikasi.</a:t>
            </a:r>
          </a:p>
          <a:p>
            <a:pPr algn="just" marL="777240" indent="-388620" lvl="1">
              <a:lnSpc>
                <a:spcPts val="5039"/>
              </a:lnSpc>
              <a:buFont typeface="Arial"/>
              <a:buChar char="•"/>
            </a:pPr>
            <a:r>
              <a:rPr lang="en-US" sz="3599">
                <a:solidFill>
                  <a:srgbClr val="866255"/>
                </a:solidFill>
                <a:latin typeface="Arimo"/>
                <a:ea typeface="Arimo"/>
                <a:cs typeface="Arimo"/>
                <a:sym typeface="Arimo"/>
              </a:rPr>
              <a:t>Pengelolaan roster (contact list).</a:t>
            </a:r>
          </a:p>
          <a:p>
            <a:pPr algn="just" marL="777240" indent="-388620" lvl="1">
              <a:lnSpc>
                <a:spcPts val="5039"/>
              </a:lnSpc>
              <a:buFont typeface="Arial"/>
              <a:buChar char="•"/>
            </a:pPr>
            <a:r>
              <a:rPr lang="en-US" sz="3599">
                <a:solidFill>
                  <a:srgbClr val="866255"/>
                </a:solidFill>
                <a:latin typeface="Arimo"/>
                <a:ea typeface="Arimo"/>
                <a:cs typeface="Arimo"/>
                <a:sym typeface="Arimo"/>
              </a:rPr>
              <a:t>Pengelolaan presence.</a:t>
            </a:r>
          </a:p>
          <a:p>
            <a:pPr algn="just" marL="777240" indent="-388620" lvl="1">
              <a:lnSpc>
                <a:spcPts val="5039"/>
              </a:lnSpc>
              <a:buFont typeface="Arial"/>
              <a:buChar char="•"/>
            </a:pPr>
            <a:r>
              <a:rPr lang="en-US" sz="3599">
                <a:solidFill>
                  <a:srgbClr val="866255"/>
                </a:solidFill>
                <a:latin typeface="Arimo"/>
                <a:ea typeface="Arimo"/>
                <a:cs typeface="Arimo"/>
                <a:sym typeface="Arimo"/>
              </a:rPr>
              <a:t>Kemampuan melakukan broadcast.</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7803547" y="-2211801"/>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601672"/>
            <a:ext cx="7337212" cy="7685328"/>
          </a:xfrm>
          <a:custGeom>
            <a:avLst/>
            <a:gdLst/>
            <a:ahLst/>
            <a:cxnLst/>
            <a:rect r="r" b="b" t="t" l="l"/>
            <a:pathLst>
              <a:path h="7685328" w="7337212">
                <a:moveTo>
                  <a:pt x="7337212" y="0"/>
                </a:moveTo>
                <a:lnTo>
                  <a:pt x="0" y="0"/>
                </a:lnTo>
                <a:lnTo>
                  <a:pt x="0" y="7685328"/>
                </a:lnTo>
                <a:lnTo>
                  <a:pt x="7337212" y="7685328"/>
                </a:lnTo>
                <a:lnTo>
                  <a:pt x="733721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745342" y="3713744"/>
            <a:ext cx="6513958" cy="2573762"/>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BAB 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246" y="6581134"/>
            <a:ext cx="3382619" cy="3543108"/>
          </a:xfrm>
          <a:custGeom>
            <a:avLst/>
            <a:gdLst/>
            <a:ahLst/>
            <a:cxnLst/>
            <a:rect r="r" b="b" t="t" l="l"/>
            <a:pathLst>
              <a:path h="3543108" w="3382619">
                <a:moveTo>
                  <a:pt x="3382619" y="0"/>
                </a:moveTo>
                <a:lnTo>
                  <a:pt x="0" y="0"/>
                </a:lnTo>
                <a:lnTo>
                  <a:pt x="0" y="3543109"/>
                </a:lnTo>
                <a:lnTo>
                  <a:pt x="3382619" y="3543109"/>
                </a:lnTo>
                <a:lnTo>
                  <a:pt x="338261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23388" y="2503930"/>
            <a:ext cx="11301259" cy="6159186"/>
          </a:xfrm>
          <a:custGeom>
            <a:avLst/>
            <a:gdLst/>
            <a:ahLst/>
            <a:cxnLst/>
            <a:rect r="r" b="b" t="t" l="l"/>
            <a:pathLst>
              <a:path h="6159186" w="11301259">
                <a:moveTo>
                  <a:pt x="0" y="0"/>
                </a:moveTo>
                <a:lnTo>
                  <a:pt x="11301259" y="0"/>
                </a:lnTo>
                <a:lnTo>
                  <a:pt x="11301259" y="6159186"/>
                </a:lnTo>
                <a:lnTo>
                  <a:pt x="0" y="6159186"/>
                </a:lnTo>
                <a:lnTo>
                  <a:pt x="0" y="0"/>
                </a:lnTo>
                <a:close/>
              </a:path>
            </a:pathLst>
          </a:custGeom>
          <a:blipFill>
            <a:blip r:embed="rId4"/>
            <a:stretch>
              <a:fillRect l="0" t="0" r="0" b="0"/>
            </a:stretch>
          </a:blipFill>
        </p:spPr>
      </p:sp>
      <p:sp>
        <p:nvSpPr>
          <p:cNvPr name="TextBox 4" id="4"/>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Implementasi Sistem</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246" y="6581134"/>
            <a:ext cx="3382619" cy="3543108"/>
          </a:xfrm>
          <a:custGeom>
            <a:avLst/>
            <a:gdLst/>
            <a:ahLst/>
            <a:cxnLst/>
            <a:rect r="r" b="b" t="t" l="l"/>
            <a:pathLst>
              <a:path h="3543108" w="3382619">
                <a:moveTo>
                  <a:pt x="3382619" y="0"/>
                </a:moveTo>
                <a:lnTo>
                  <a:pt x="0" y="0"/>
                </a:lnTo>
                <a:lnTo>
                  <a:pt x="0" y="3543109"/>
                </a:lnTo>
                <a:lnTo>
                  <a:pt x="3382619" y="3543109"/>
                </a:lnTo>
                <a:lnTo>
                  <a:pt x="338261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LINK GITHUB</a:t>
            </a:r>
          </a:p>
        </p:txBody>
      </p:sp>
      <p:sp>
        <p:nvSpPr>
          <p:cNvPr name="TextBox 4" id="4"/>
          <p:cNvSpPr txBox="true"/>
          <p:nvPr/>
        </p:nvSpPr>
        <p:spPr>
          <a:xfrm rot="0">
            <a:off x="3136368" y="2222315"/>
            <a:ext cx="12603176" cy="790575"/>
          </a:xfrm>
          <a:prstGeom prst="rect">
            <a:avLst/>
          </a:prstGeom>
        </p:spPr>
        <p:txBody>
          <a:bodyPr anchor="t" rtlCol="false" tIns="0" lIns="0" bIns="0" rIns="0">
            <a:spAutoFit/>
          </a:bodyPr>
          <a:lstStyle/>
          <a:p>
            <a:pPr algn="just">
              <a:lnSpc>
                <a:spcPts val="6299"/>
              </a:lnSpc>
            </a:pPr>
            <a:r>
              <a:rPr lang="en-US" b="true" sz="4500">
                <a:solidFill>
                  <a:srgbClr val="866255"/>
                </a:solidFill>
                <a:latin typeface="Arimo Bold"/>
                <a:ea typeface="Arimo Bold"/>
                <a:cs typeface="Arimo Bold"/>
                <a:sym typeface="Arimo Bold"/>
              </a:rPr>
              <a:t>https://github.com/Jarsters/socket-xmpp-json</a:t>
            </a:r>
          </a:p>
        </p:txBody>
      </p:sp>
      <p:sp>
        <p:nvSpPr>
          <p:cNvPr name="TextBox 5" id="5"/>
          <p:cNvSpPr txBox="true"/>
          <p:nvPr/>
        </p:nvSpPr>
        <p:spPr>
          <a:xfrm rot="0">
            <a:off x="3136368" y="3531981"/>
            <a:ext cx="12603176" cy="3508375"/>
          </a:xfrm>
          <a:prstGeom prst="rect">
            <a:avLst/>
          </a:prstGeom>
        </p:spPr>
        <p:txBody>
          <a:bodyPr anchor="t" rtlCol="false" tIns="0" lIns="0" bIns="0" rIns="0">
            <a:spAutoFit/>
          </a:bodyPr>
          <a:lstStyle/>
          <a:p>
            <a:pPr algn="just">
              <a:lnSpc>
                <a:spcPts val="5599"/>
              </a:lnSpc>
            </a:pPr>
            <a:r>
              <a:rPr lang="en-US" sz="3999">
                <a:solidFill>
                  <a:srgbClr val="866255"/>
                </a:solidFill>
                <a:latin typeface="Arimo"/>
                <a:ea typeface="Arimo"/>
                <a:cs typeface="Arimo"/>
                <a:sym typeface="Arimo"/>
              </a:rPr>
              <a:t>Terdapat empat folder utama, yaitu:</a:t>
            </a:r>
          </a:p>
          <a:p>
            <a:pPr algn="just" marL="863599" indent="-431800" lvl="1">
              <a:lnSpc>
                <a:spcPts val="5599"/>
              </a:lnSpc>
              <a:buFont typeface="Arial"/>
              <a:buChar char="•"/>
            </a:pPr>
            <a:r>
              <a:rPr lang="en-US" sz="3999">
                <a:solidFill>
                  <a:srgbClr val="866255"/>
                </a:solidFill>
                <a:latin typeface="Arimo"/>
                <a:ea typeface="Arimo"/>
                <a:cs typeface="Arimo"/>
                <a:sym typeface="Arimo"/>
              </a:rPr>
              <a:t>Utils</a:t>
            </a:r>
          </a:p>
          <a:p>
            <a:pPr algn="just" marL="863599" indent="-431800" lvl="1">
              <a:lnSpc>
                <a:spcPts val="5599"/>
              </a:lnSpc>
              <a:buFont typeface="Arial"/>
              <a:buChar char="•"/>
            </a:pPr>
            <a:r>
              <a:rPr lang="en-US" sz="3999">
                <a:solidFill>
                  <a:srgbClr val="866255"/>
                </a:solidFill>
                <a:latin typeface="Arimo"/>
                <a:ea typeface="Arimo"/>
                <a:cs typeface="Arimo"/>
                <a:sym typeface="Arimo"/>
              </a:rPr>
              <a:t>Tracker</a:t>
            </a:r>
          </a:p>
          <a:p>
            <a:pPr algn="just" marL="863599" indent="-431800" lvl="1">
              <a:lnSpc>
                <a:spcPts val="5599"/>
              </a:lnSpc>
              <a:buFont typeface="Arial"/>
              <a:buChar char="•"/>
            </a:pPr>
            <a:r>
              <a:rPr lang="en-US" sz="3999">
                <a:solidFill>
                  <a:srgbClr val="866255"/>
                </a:solidFill>
                <a:latin typeface="Arimo"/>
                <a:ea typeface="Arimo"/>
                <a:cs typeface="Arimo"/>
                <a:sym typeface="Arimo"/>
              </a:rPr>
              <a:t>Manager</a:t>
            </a:r>
          </a:p>
          <a:p>
            <a:pPr algn="just" marL="863599" indent="-431800" lvl="1">
              <a:lnSpc>
                <a:spcPts val="5599"/>
              </a:lnSpc>
              <a:buFont typeface="Arial"/>
              <a:buChar char="•"/>
            </a:pPr>
            <a:r>
              <a:rPr lang="en-US" sz="3999">
                <a:solidFill>
                  <a:srgbClr val="866255"/>
                </a:solidFill>
                <a:latin typeface="Arimo"/>
                <a:ea typeface="Arimo"/>
                <a:cs typeface="Arimo"/>
                <a:sym typeface="Arimo"/>
              </a:rPr>
              <a:t>Relay</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UTILS</a:t>
            </a:r>
          </a:p>
        </p:txBody>
      </p:sp>
      <p:sp>
        <p:nvSpPr>
          <p:cNvPr name="TextBox 3" id="3"/>
          <p:cNvSpPr txBox="true"/>
          <p:nvPr/>
        </p:nvSpPr>
        <p:spPr>
          <a:xfrm rot="0">
            <a:off x="2508386" y="2604440"/>
            <a:ext cx="12603176" cy="2803525"/>
          </a:xfrm>
          <a:prstGeom prst="rect">
            <a:avLst/>
          </a:prstGeom>
        </p:spPr>
        <p:txBody>
          <a:bodyPr anchor="t" rtlCol="false" tIns="0" lIns="0" bIns="0" rIns="0">
            <a:spAutoFit/>
          </a:bodyPr>
          <a:lstStyle/>
          <a:p>
            <a:pPr algn="just">
              <a:lnSpc>
                <a:spcPts val="5599"/>
              </a:lnSpc>
            </a:pPr>
            <a:r>
              <a:rPr lang="en-US" sz="3999">
                <a:solidFill>
                  <a:srgbClr val="866255"/>
                </a:solidFill>
                <a:latin typeface="Arimo"/>
                <a:ea typeface="Arimo"/>
                <a:cs typeface="Arimo"/>
                <a:sym typeface="Arimo"/>
              </a:rPr>
              <a:t>Folder yang memberikan kemampuan umum kepada komponen yang menggunakannya, seperti.</a:t>
            </a:r>
          </a:p>
          <a:p>
            <a:pPr algn="just" marL="863599" indent="-431800" lvl="1">
              <a:lnSpc>
                <a:spcPts val="5599"/>
              </a:lnSpc>
              <a:buFont typeface="Arial"/>
              <a:buChar char="•"/>
            </a:pPr>
            <a:r>
              <a:rPr lang="en-US" sz="3999">
                <a:solidFill>
                  <a:srgbClr val="866255"/>
                </a:solidFill>
                <a:latin typeface="Arimo"/>
                <a:ea typeface="Arimo"/>
                <a:cs typeface="Arimo"/>
                <a:sym typeface="Arimo"/>
              </a:rPr>
              <a:t>Mampu membuat komponen menjadi server</a:t>
            </a:r>
          </a:p>
          <a:p>
            <a:pPr algn="just" marL="863599" indent="-431800" lvl="1">
              <a:lnSpc>
                <a:spcPts val="5599"/>
              </a:lnSpc>
              <a:buFont typeface="Arial"/>
              <a:buChar char="•"/>
            </a:pPr>
            <a:r>
              <a:rPr lang="en-US" sz="3999">
                <a:solidFill>
                  <a:srgbClr val="866255"/>
                </a:solidFill>
                <a:latin typeface="Arimo"/>
                <a:ea typeface="Arimo"/>
                <a:cs typeface="Arimo"/>
                <a:sym typeface="Arimo"/>
              </a:rPr>
              <a:t>Mampu mengelola timestamp</a:t>
            </a:r>
          </a:p>
        </p:txBody>
      </p:sp>
      <p:sp>
        <p:nvSpPr>
          <p:cNvPr name="Freeform 4" id="4"/>
          <p:cNvSpPr/>
          <p:nvPr/>
        </p:nvSpPr>
        <p:spPr>
          <a:xfrm flipH="true" flipV="false" rot="0">
            <a:off x="-2246" y="6581134"/>
            <a:ext cx="3382619" cy="3543108"/>
          </a:xfrm>
          <a:custGeom>
            <a:avLst/>
            <a:gdLst/>
            <a:ahLst/>
            <a:cxnLst/>
            <a:rect r="r" b="b" t="t" l="l"/>
            <a:pathLst>
              <a:path h="3543108" w="3382619">
                <a:moveTo>
                  <a:pt x="3382619" y="0"/>
                </a:moveTo>
                <a:lnTo>
                  <a:pt x="0" y="0"/>
                </a:lnTo>
                <a:lnTo>
                  <a:pt x="0" y="3543109"/>
                </a:lnTo>
                <a:lnTo>
                  <a:pt x="3382619" y="3543109"/>
                </a:lnTo>
                <a:lnTo>
                  <a:pt x="338261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246" y="6581134"/>
            <a:ext cx="3382619" cy="3543108"/>
          </a:xfrm>
          <a:custGeom>
            <a:avLst/>
            <a:gdLst/>
            <a:ahLst/>
            <a:cxnLst/>
            <a:rect r="r" b="b" t="t" l="l"/>
            <a:pathLst>
              <a:path h="3543108" w="3382619">
                <a:moveTo>
                  <a:pt x="3382619" y="0"/>
                </a:moveTo>
                <a:lnTo>
                  <a:pt x="0" y="0"/>
                </a:lnTo>
                <a:lnTo>
                  <a:pt x="0" y="3543109"/>
                </a:lnTo>
                <a:lnTo>
                  <a:pt x="3382619" y="3543109"/>
                </a:lnTo>
                <a:lnTo>
                  <a:pt x="338261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772880" y="2451810"/>
            <a:ext cx="11053274" cy="6806490"/>
          </a:xfrm>
          <a:custGeom>
            <a:avLst/>
            <a:gdLst/>
            <a:ahLst/>
            <a:cxnLst/>
            <a:rect r="r" b="b" t="t" l="l"/>
            <a:pathLst>
              <a:path h="6806490" w="11053274">
                <a:moveTo>
                  <a:pt x="0" y="0"/>
                </a:moveTo>
                <a:lnTo>
                  <a:pt x="11053274" y="0"/>
                </a:lnTo>
                <a:lnTo>
                  <a:pt x="11053274" y="6806490"/>
                </a:lnTo>
                <a:lnTo>
                  <a:pt x="0" y="6806490"/>
                </a:lnTo>
                <a:lnTo>
                  <a:pt x="0" y="0"/>
                </a:lnTo>
                <a:close/>
              </a:path>
            </a:pathLst>
          </a:custGeom>
          <a:blipFill>
            <a:blip r:embed="rId4"/>
            <a:stretch>
              <a:fillRect l="0" t="0" r="0" b="0"/>
            </a:stretch>
          </a:blipFill>
        </p:spPr>
      </p:sp>
      <p:sp>
        <p:nvSpPr>
          <p:cNvPr name="TextBox 4" id="4"/>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TRACKER</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08386" y="2604440"/>
            <a:ext cx="12603176" cy="2803525"/>
          </a:xfrm>
          <a:prstGeom prst="rect">
            <a:avLst/>
          </a:prstGeom>
        </p:spPr>
        <p:txBody>
          <a:bodyPr anchor="t" rtlCol="false" tIns="0" lIns="0" bIns="0" rIns="0">
            <a:spAutoFit/>
          </a:bodyPr>
          <a:lstStyle/>
          <a:p>
            <a:pPr algn="just" marL="863599" indent="-431800" lvl="1">
              <a:lnSpc>
                <a:spcPts val="5599"/>
              </a:lnSpc>
              <a:buFont typeface="Arial"/>
              <a:buChar char="•"/>
            </a:pPr>
            <a:r>
              <a:rPr lang="en-US" sz="3999">
                <a:solidFill>
                  <a:srgbClr val="866255"/>
                </a:solidFill>
                <a:latin typeface="Arimo"/>
                <a:ea typeface="Arimo"/>
                <a:cs typeface="Arimo"/>
                <a:sym typeface="Arimo"/>
              </a:rPr>
              <a:t>Menjadi server dan mampu menerima koneksi</a:t>
            </a:r>
          </a:p>
          <a:p>
            <a:pPr algn="just" marL="863599" indent="-431800" lvl="1">
              <a:lnSpc>
                <a:spcPts val="5599"/>
              </a:lnSpc>
              <a:buFont typeface="Arial"/>
              <a:buChar char="•"/>
            </a:pPr>
            <a:r>
              <a:rPr lang="en-US" sz="3999">
                <a:solidFill>
                  <a:srgbClr val="866255"/>
                </a:solidFill>
                <a:latin typeface="Arimo"/>
                <a:ea typeface="Arimo"/>
                <a:cs typeface="Arimo"/>
                <a:sym typeface="Arimo"/>
              </a:rPr>
              <a:t>Mencatat alamat komponen yang dibutuhkan</a:t>
            </a:r>
          </a:p>
          <a:p>
            <a:pPr algn="just" marL="863599" indent="-431800" lvl="1">
              <a:lnSpc>
                <a:spcPts val="5599"/>
              </a:lnSpc>
              <a:buFont typeface="Arial"/>
              <a:buChar char="•"/>
            </a:pPr>
            <a:r>
              <a:rPr lang="en-US" sz="3999">
                <a:solidFill>
                  <a:srgbClr val="866255"/>
                </a:solidFill>
                <a:latin typeface="Arimo"/>
                <a:ea typeface="Arimo"/>
                <a:cs typeface="Arimo"/>
                <a:sym typeface="Arimo"/>
              </a:rPr>
              <a:t>Memberikan alamat komponen yang dibutuhkan</a:t>
            </a:r>
          </a:p>
          <a:p>
            <a:pPr algn="just" marL="863599" indent="-431800" lvl="1">
              <a:lnSpc>
                <a:spcPts val="5599"/>
              </a:lnSpc>
              <a:buFont typeface="Arial"/>
              <a:buChar char="•"/>
            </a:pPr>
            <a:r>
              <a:rPr lang="en-US" sz="3999">
                <a:solidFill>
                  <a:srgbClr val="866255"/>
                </a:solidFill>
                <a:latin typeface="Arimo"/>
                <a:ea typeface="Arimo"/>
                <a:cs typeface="Arimo"/>
                <a:sym typeface="Arimo"/>
              </a:rPr>
              <a:t>Memperbarui status komponen tertentu</a:t>
            </a:r>
          </a:p>
        </p:txBody>
      </p:sp>
      <p:sp>
        <p:nvSpPr>
          <p:cNvPr name="Freeform 3" id="3"/>
          <p:cNvSpPr/>
          <p:nvPr/>
        </p:nvSpPr>
        <p:spPr>
          <a:xfrm flipH="true" flipV="false" rot="0">
            <a:off x="-2246" y="6581134"/>
            <a:ext cx="3382619" cy="3543108"/>
          </a:xfrm>
          <a:custGeom>
            <a:avLst/>
            <a:gdLst/>
            <a:ahLst/>
            <a:cxnLst/>
            <a:rect r="r" b="b" t="t" l="l"/>
            <a:pathLst>
              <a:path h="3543108" w="3382619">
                <a:moveTo>
                  <a:pt x="3382619" y="0"/>
                </a:moveTo>
                <a:lnTo>
                  <a:pt x="0" y="0"/>
                </a:lnTo>
                <a:lnTo>
                  <a:pt x="0" y="3543109"/>
                </a:lnTo>
                <a:lnTo>
                  <a:pt x="3382619" y="3543109"/>
                </a:lnTo>
                <a:lnTo>
                  <a:pt x="338261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TRACKER</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246" y="6581134"/>
            <a:ext cx="3382619" cy="3543108"/>
          </a:xfrm>
          <a:custGeom>
            <a:avLst/>
            <a:gdLst/>
            <a:ahLst/>
            <a:cxnLst/>
            <a:rect r="r" b="b" t="t" l="l"/>
            <a:pathLst>
              <a:path h="3543108" w="3382619">
                <a:moveTo>
                  <a:pt x="3382619" y="0"/>
                </a:moveTo>
                <a:lnTo>
                  <a:pt x="0" y="0"/>
                </a:lnTo>
                <a:lnTo>
                  <a:pt x="0" y="3543109"/>
                </a:lnTo>
                <a:lnTo>
                  <a:pt x="3382619" y="3543109"/>
                </a:lnTo>
                <a:lnTo>
                  <a:pt x="338261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062068" y="2367628"/>
            <a:ext cx="12523826" cy="6152330"/>
          </a:xfrm>
          <a:custGeom>
            <a:avLst/>
            <a:gdLst/>
            <a:ahLst/>
            <a:cxnLst/>
            <a:rect r="r" b="b" t="t" l="l"/>
            <a:pathLst>
              <a:path h="6152330" w="12523826">
                <a:moveTo>
                  <a:pt x="0" y="0"/>
                </a:moveTo>
                <a:lnTo>
                  <a:pt x="12523826" y="0"/>
                </a:lnTo>
                <a:lnTo>
                  <a:pt x="12523826" y="6152330"/>
                </a:lnTo>
                <a:lnTo>
                  <a:pt x="0" y="6152330"/>
                </a:lnTo>
                <a:lnTo>
                  <a:pt x="0" y="0"/>
                </a:lnTo>
                <a:close/>
              </a:path>
            </a:pathLst>
          </a:custGeom>
          <a:blipFill>
            <a:blip r:embed="rId4"/>
            <a:stretch>
              <a:fillRect l="0" t="0" r="0" b="0"/>
            </a:stretch>
          </a:blipFill>
        </p:spPr>
      </p:sp>
      <p:sp>
        <p:nvSpPr>
          <p:cNvPr name="TextBox 4" id="4"/>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MANAGER</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08386" y="2604440"/>
            <a:ext cx="12603176" cy="7154545"/>
          </a:xfrm>
          <a:prstGeom prst="rect">
            <a:avLst/>
          </a:prstGeom>
        </p:spPr>
        <p:txBody>
          <a:bodyPr anchor="t" rtlCol="false" tIns="0" lIns="0" bIns="0" rIns="0">
            <a:spAutoFit/>
          </a:bodyPr>
          <a:lstStyle/>
          <a:p>
            <a:pPr algn="just" marL="863599" indent="-431800" lvl="1">
              <a:lnSpc>
                <a:spcPts val="5599"/>
              </a:lnSpc>
              <a:buFont typeface="Arial"/>
              <a:buChar char="•"/>
            </a:pPr>
            <a:r>
              <a:rPr lang="en-US" sz="3999">
                <a:solidFill>
                  <a:srgbClr val="866255"/>
                </a:solidFill>
                <a:latin typeface="Arimo"/>
                <a:ea typeface="Arimo"/>
                <a:cs typeface="Arimo"/>
                <a:sym typeface="Arimo"/>
              </a:rPr>
              <a:t>Menjadi client dan mengirim permintaan koneksi kepada Tracker</a:t>
            </a:r>
          </a:p>
          <a:p>
            <a:pPr algn="just" marL="863599" indent="-431800" lvl="1">
              <a:lnSpc>
                <a:spcPts val="5599"/>
              </a:lnSpc>
              <a:buFont typeface="Arial"/>
              <a:buChar char="•"/>
            </a:pPr>
            <a:r>
              <a:rPr lang="en-US" sz="3999">
                <a:solidFill>
                  <a:srgbClr val="866255"/>
                </a:solidFill>
                <a:latin typeface="Arimo"/>
                <a:ea typeface="Arimo"/>
                <a:cs typeface="Arimo"/>
                <a:sym typeface="Arimo"/>
              </a:rPr>
              <a:t>Menjadi server dan mampu menerima koneksi</a:t>
            </a:r>
          </a:p>
          <a:p>
            <a:pPr algn="just" marL="863599" indent="-431800" lvl="1">
              <a:lnSpc>
                <a:spcPts val="5599"/>
              </a:lnSpc>
              <a:buFont typeface="Arial"/>
              <a:buChar char="•"/>
            </a:pPr>
            <a:r>
              <a:rPr lang="en-US" sz="3999">
                <a:solidFill>
                  <a:srgbClr val="866255"/>
                </a:solidFill>
                <a:latin typeface="Arimo"/>
                <a:ea typeface="Arimo"/>
                <a:cs typeface="Arimo"/>
                <a:sym typeface="Arimo"/>
              </a:rPr>
              <a:t>Mengelola jumlah terkoneksi pada Relay</a:t>
            </a:r>
          </a:p>
          <a:p>
            <a:pPr algn="just" marL="863599" indent="-431800" lvl="1">
              <a:lnSpc>
                <a:spcPts val="5599"/>
              </a:lnSpc>
              <a:buFont typeface="Arial"/>
              <a:buChar char="•"/>
            </a:pPr>
            <a:r>
              <a:rPr lang="en-US" sz="3999">
                <a:solidFill>
                  <a:srgbClr val="866255"/>
                </a:solidFill>
                <a:latin typeface="Arimo"/>
                <a:ea typeface="Arimo"/>
                <a:cs typeface="Arimo"/>
                <a:sym typeface="Arimo"/>
              </a:rPr>
              <a:t>Mengelola registrasi dan login User</a:t>
            </a:r>
          </a:p>
          <a:p>
            <a:pPr algn="just" marL="863599" indent="-431800" lvl="1">
              <a:lnSpc>
                <a:spcPts val="5599"/>
              </a:lnSpc>
              <a:buFont typeface="Arial"/>
              <a:buChar char="•"/>
            </a:pPr>
            <a:r>
              <a:rPr lang="en-US" sz="3999">
                <a:solidFill>
                  <a:srgbClr val="866255"/>
                </a:solidFill>
                <a:latin typeface="Arimo"/>
                <a:ea typeface="Arimo"/>
                <a:cs typeface="Arimo"/>
                <a:sym typeface="Arimo"/>
              </a:rPr>
              <a:t>Memberikan Relay dengan jumlah koneksi paling sedikit kepada User yang meminta</a:t>
            </a:r>
          </a:p>
          <a:p>
            <a:pPr algn="just" marL="863599" indent="-431800" lvl="1">
              <a:lnSpc>
                <a:spcPts val="5599"/>
              </a:lnSpc>
              <a:buFont typeface="Arial"/>
              <a:buChar char="•"/>
            </a:pPr>
            <a:r>
              <a:rPr lang="en-US" sz="3999">
                <a:solidFill>
                  <a:srgbClr val="866255"/>
                </a:solidFill>
                <a:latin typeface="Arimo"/>
                <a:ea typeface="Arimo"/>
                <a:cs typeface="Arimo"/>
                <a:sym typeface="Arimo"/>
              </a:rPr>
              <a:t>CRUD roster</a:t>
            </a:r>
          </a:p>
          <a:p>
            <a:pPr algn="just" marL="863599" indent="-431800" lvl="1">
              <a:lnSpc>
                <a:spcPts val="5599"/>
              </a:lnSpc>
              <a:buFont typeface="Arial"/>
              <a:buChar char="•"/>
            </a:pPr>
            <a:r>
              <a:rPr lang="en-US" sz="3999">
                <a:solidFill>
                  <a:srgbClr val="866255"/>
                </a:solidFill>
                <a:latin typeface="Arimo"/>
                <a:ea typeface="Arimo"/>
                <a:cs typeface="Arimo"/>
                <a:sym typeface="Arimo"/>
              </a:rPr>
              <a:t>RU presence</a:t>
            </a:r>
          </a:p>
          <a:p>
            <a:pPr algn="just" marL="863599" indent="-431800" lvl="1">
              <a:lnSpc>
                <a:spcPts val="5599"/>
              </a:lnSpc>
              <a:buFont typeface="Arial"/>
              <a:buChar char="•"/>
            </a:pPr>
            <a:r>
              <a:rPr lang="en-US" sz="3999">
                <a:solidFill>
                  <a:srgbClr val="866255"/>
                </a:solidFill>
                <a:latin typeface="Arimo"/>
                <a:ea typeface="Arimo"/>
                <a:cs typeface="Arimo"/>
                <a:sym typeface="Arimo"/>
              </a:rPr>
              <a:t>Broadcast untuk tujuan tertentu</a:t>
            </a:r>
          </a:p>
        </p:txBody>
      </p:sp>
      <p:sp>
        <p:nvSpPr>
          <p:cNvPr name="TextBox 3" id="3"/>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MANAGER</a:t>
            </a:r>
          </a:p>
        </p:txBody>
      </p:sp>
      <p:sp>
        <p:nvSpPr>
          <p:cNvPr name="Freeform 4" id="4"/>
          <p:cNvSpPr/>
          <p:nvPr/>
        </p:nvSpPr>
        <p:spPr>
          <a:xfrm flipH="false" flipV="false" rot="0">
            <a:off x="15673093" y="14635"/>
            <a:ext cx="2554339" cy="2675530"/>
          </a:xfrm>
          <a:custGeom>
            <a:avLst/>
            <a:gdLst/>
            <a:ahLst/>
            <a:cxnLst/>
            <a:rect r="r" b="b" t="t" l="l"/>
            <a:pathLst>
              <a:path h="2675530" w="2554339">
                <a:moveTo>
                  <a:pt x="0" y="0"/>
                </a:moveTo>
                <a:lnTo>
                  <a:pt x="2554339" y="0"/>
                </a:lnTo>
                <a:lnTo>
                  <a:pt x="2554339" y="2675530"/>
                </a:lnTo>
                <a:lnTo>
                  <a:pt x="0" y="26755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246" y="6581134"/>
            <a:ext cx="3382619" cy="3543108"/>
          </a:xfrm>
          <a:custGeom>
            <a:avLst/>
            <a:gdLst/>
            <a:ahLst/>
            <a:cxnLst/>
            <a:rect r="r" b="b" t="t" l="l"/>
            <a:pathLst>
              <a:path h="3543108" w="3382619">
                <a:moveTo>
                  <a:pt x="3382619" y="0"/>
                </a:moveTo>
                <a:lnTo>
                  <a:pt x="0" y="0"/>
                </a:lnTo>
                <a:lnTo>
                  <a:pt x="0" y="3543109"/>
                </a:lnTo>
                <a:lnTo>
                  <a:pt x="3382619" y="3543109"/>
                </a:lnTo>
                <a:lnTo>
                  <a:pt x="338261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73355" y="2451051"/>
            <a:ext cx="12664650" cy="6807249"/>
          </a:xfrm>
          <a:custGeom>
            <a:avLst/>
            <a:gdLst/>
            <a:ahLst/>
            <a:cxnLst/>
            <a:rect r="r" b="b" t="t" l="l"/>
            <a:pathLst>
              <a:path h="6807249" w="12664650">
                <a:moveTo>
                  <a:pt x="0" y="0"/>
                </a:moveTo>
                <a:lnTo>
                  <a:pt x="12664650" y="0"/>
                </a:lnTo>
                <a:lnTo>
                  <a:pt x="12664650" y="6807249"/>
                </a:lnTo>
                <a:lnTo>
                  <a:pt x="0" y="6807249"/>
                </a:lnTo>
                <a:lnTo>
                  <a:pt x="0" y="0"/>
                </a:lnTo>
                <a:close/>
              </a:path>
            </a:pathLst>
          </a:custGeom>
          <a:blipFill>
            <a:blip r:embed="rId4"/>
            <a:stretch>
              <a:fillRect l="0" t="0" r="0" b="0"/>
            </a:stretch>
          </a:blipFill>
        </p:spPr>
      </p:sp>
      <p:sp>
        <p:nvSpPr>
          <p:cNvPr name="TextBox 4" id="4"/>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RELAY</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42475" y="2225675"/>
            <a:ext cx="15616825" cy="7124065"/>
          </a:xfrm>
          <a:prstGeom prst="rect">
            <a:avLst/>
          </a:prstGeom>
        </p:spPr>
        <p:txBody>
          <a:bodyPr anchor="t" rtlCol="false" tIns="0" lIns="0" bIns="0" rIns="0">
            <a:spAutoFit/>
          </a:bodyPr>
          <a:lstStyle/>
          <a:p>
            <a:pPr algn="just" marL="863599" indent="-431800" lvl="1">
              <a:lnSpc>
                <a:spcPts val="5599"/>
              </a:lnSpc>
              <a:buFont typeface="Arial"/>
              <a:buChar char="•"/>
            </a:pPr>
            <a:r>
              <a:rPr lang="en-US" sz="3999">
                <a:solidFill>
                  <a:srgbClr val="866255"/>
                </a:solidFill>
                <a:latin typeface="Arimo"/>
                <a:ea typeface="Arimo"/>
                <a:cs typeface="Arimo"/>
                <a:sym typeface="Arimo"/>
              </a:rPr>
              <a:t>Menjadi client dan mengirim permintaan koneksi kepada Tracker dan Manager</a:t>
            </a:r>
          </a:p>
          <a:p>
            <a:pPr algn="just" marL="863599" indent="-431800" lvl="1">
              <a:lnSpc>
                <a:spcPts val="5599"/>
              </a:lnSpc>
              <a:buFont typeface="Arial"/>
              <a:buChar char="•"/>
            </a:pPr>
            <a:r>
              <a:rPr lang="en-US" sz="3999">
                <a:solidFill>
                  <a:srgbClr val="866255"/>
                </a:solidFill>
                <a:latin typeface="Arimo"/>
                <a:ea typeface="Arimo"/>
                <a:cs typeface="Arimo"/>
                <a:sym typeface="Arimo"/>
              </a:rPr>
              <a:t>Menjadi server dan mampu menerima koneksi</a:t>
            </a:r>
          </a:p>
          <a:p>
            <a:pPr algn="just" marL="863599" indent="-431800" lvl="1">
              <a:lnSpc>
                <a:spcPts val="5599"/>
              </a:lnSpc>
              <a:buFont typeface="Arial"/>
              <a:buChar char="•"/>
            </a:pPr>
            <a:r>
              <a:rPr lang="en-US" sz="3999">
                <a:solidFill>
                  <a:srgbClr val="866255"/>
                </a:solidFill>
                <a:latin typeface="Arimo"/>
                <a:ea typeface="Arimo"/>
                <a:cs typeface="Arimo"/>
                <a:sym typeface="Arimo"/>
              </a:rPr>
              <a:t>Mengelola daftar User yang terkoneksi dengan dirinya maupun dengan Relay lainnya</a:t>
            </a:r>
          </a:p>
          <a:p>
            <a:pPr algn="just" marL="863599" indent="-431800" lvl="1">
              <a:lnSpc>
                <a:spcPts val="5599"/>
              </a:lnSpc>
              <a:buFont typeface="Arial"/>
              <a:buChar char="•"/>
            </a:pPr>
            <a:r>
              <a:rPr lang="en-US" sz="3999">
                <a:solidFill>
                  <a:srgbClr val="866255"/>
                </a:solidFill>
                <a:latin typeface="Arimo"/>
                <a:ea typeface="Arimo"/>
                <a:cs typeface="Arimo"/>
                <a:sym typeface="Arimo"/>
              </a:rPr>
              <a:t>Memberikan pesan NCIR atau ECIR kepada Manager agar jumlah terkoneksi diubah oleh Manager</a:t>
            </a:r>
          </a:p>
          <a:p>
            <a:pPr algn="just" marL="863599" indent="-431800" lvl="1">
              <a:lnSpc>
                <a:spcPts val="5599"/>
              </a:lnSpc>
              <a:buFont typeface="Arial"/>
              <a:buChar char="•"/>
            </a:pPr>
            <a:r>
              <a:rPr lang="en-US" sz="3999">
                <a:solidFill>
                  <a:srgbClr val="866255"/>
                </a:solidFill>
                <a:latin typeface="Arimo"/>
                <a:ea typeface="Arimo"/>
                <a:cs typeface="Arimo"/>
                <a:sym typeface="Arimo"/>
              </a:rPr>
              <a:t>Memberikan pesan “new user” atau “end user” kepada Relay lainnya agar mencatat atau menghapus suatu user</a:t>
            </a:r>
          </a:p>
          <a:p>
            <a:pPr algn="just" marL="863599" indent="-431800" lvl="1">
              <a:lnSpc>
                <a:spcPts val="5599"/>
              </a:lnSpc>
              <a:buFont typeface="Arial"/>
              <a:buChar char="•"/>
            </a:pPr>
            <a:r>
              <a:rPr lang="en-US" sz="3999">
                <a:solidFill>
                  <a:srgbClr val="866255"/>
                </a:solidFill>
                <a:latin typeface="Arimo"/>
                <a:ea typeface="Arimo"/>
                <a:cs typeface="Arimo"/>
                <a:sym typeface="Arimo"/>
              </a:rPr>
              <a:t>Meneruskan pesan kepada User atau Relay yang akan dituju</a:t>
            </a:r>
          </a:p>
        </p:txBody>
      </p:sp>
      <p:sp>
        <p:nvSpPr>
          <p:cNvPr name="Freeform 3" id="3"/>
          <p:cNvSpPr/>
          <p:nvPr/>
        </p:nvSpPr>
        <p:spPr>
          <a:xfrm flipH="true" flipV="false" rot="0">
            <a:off x="0" y="0"/>
            <a:ext cx="1820007" cy="1906358"/>
          </a:xfrm>
          <a:custGeom>
            <a:avLst/>
            <a:gdLst/>
            <a:ahLst/>
            <a:cxnLst/>
            <a:rect r="r" b="b" t="t" l="l"/>
            <a:pathLst>
              <a:path h="1906358" w="1820007">
                <a:moveTo>
                  <a:pt x="1820007" y="0"/>
                </a:moveTo>
                <a:lnTo>
                  <a:pt x="0" y="0"/>
                </a:lnTo>
                <a:lnTo>
                  <a:pt x="0" y="1906358"/>
                </a:lnTo>
                <a:lnTo>
                  <a:pt x="1820007" y="1906358"/>
                </a:lnTo>
                <a:lnTo>
                  <a:pt x="18200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RELAY</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8489548" y="-2135579"/>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673717"/>
            <a:ext cx="7655038" cy="7613283"/>
          </a:xfrm>
          <a:custGeom>
            <a:avLst/>
            <a:gdLst/>
            <a:ahLst/>
            <a:cxnLst/>
            <a:rect r="r" b="b" t="t" l="l"/>
            <a:pathLst>
              <a:path h="7613283" w="7655038">
                <a:moveTo>
                  <a:pt x="7655038" y="0"/>
                </a:moveTo>
                <a:lnTo>
                  <a:pt x="0" y="0"/>
                </a:lnTo>
                <a:lnTo>
                  <a:pt x="0" y="7613283"/>
                </a:lnTo>
                <a:lnTo>
                  <a:pt x="7655038" y="7613283"/>
                </a:lnTo>
                <a:lnTo>
                  <a:pt x="765503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745342" y="3713744"/>
            <a:ext cx="6513958" cy="2573762"/>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BAB 5</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3391530"/>
            <a:ext cx="1233504" cy="930985"/>
            <a:chOff x="0" y="0"/>
            <a:chExt cx="324873" cy="245198"/>
          </a:xfrm>
        </p:grpSpPr>
        <p:sp>
          <p:nvSpPr>
            <p:cNvPr name="Freeform 3" id="3"/>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4" id="4"/>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1</a:t>
              </a:r>
            </a:p>
          </p:txBody>
        </p:sp>
      </p:grpSp>
      <p:grpSp>
        <p:nvGrpSpPr>
          <p:cNvPr name="Group 5" id="5"/>
          <p:cNvGrpSpPr/>
          <p:nvPr/>
        </p:nvGrpSpPr>
        <p:grpSpPr>
          <a:xfrm rot="0">
            <a:off x="9712698" y="3391530"/>
            <a:ext cx="1233504" cy="930985"/>
            <a:chOff x="0" y="0"/>
            <a:chExt cx="324873" cy="245198"/>
          </a:xfrm>
        </p:grpSpPr>
        <p:sp>
          <p:nvSpPr>
            <p:cNvPr name="Freeform 6" id="6"/>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7" id="7"/>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2</a:t>
              </a:r>
            </a:p>
          </p:txBody>
        </p:sp>
      </p:grpSp>
      <p:sp>
        <p:nvSpPr>
          <p:cNvPr name="TextBox 8" id="8"/>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Kesimpulan</a:t>
            </a:r>
          </a:p>
        </p:txBody>
      </p:sp>
      <p:sp>
        <p:nvSpPr>
          <p:cNvPr name="TextBox 9" id="9"/>
          <p:cNvSpPr txBox="true"/>
          <p:nvPr/>
        </p:nvSpPr>
        <p:spPr>
          <a:xfrm rot="0">
            <a:off x="2832383" y="2752123"/>
            <a:ext cx="6253320" cy="48006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Socket programming hanyalah saluran untuk pertukaran data, pertukaran data dapat dilakukan seperti apa saja. Jika tidak ada format acuan, sistem tidak akan bisa digunakan karena tidak memiliki format data yang jelas. Dibutuhkan sebuah protokol pertukaran data untuk menanganinya.</a:t>
            </a:r>
          </a:p>
        </p:txBody>
      </p:sp>
      <p:sp>
        <p:nvSpPr>
          <p:cNvPr name="TextBox 10" id="10"/>
          <p:cNvSpPr txBox="true"/>
          <p:nvPr/>
        </p:nvSpPr>
        <p:spPr>
          <a:xfrm rot="0">
            <a:off x="11421130" y="2752123"/>
            <a:ext cx="6253320" cy="37338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Pemahaman tentang protokol yang digunakan sebagai landasan format pertukaran data harus dikuasai dengan benar. Pemahaman ini akan membantu jika pengembang ingin melakukan inovasi pada protokol tersebut.</a:t>
            </a:r>
          </a:p>
        </p:txBody>
      </p:sp>
      <p:sp>
        <p:nvSpPr>
          <p:cNvPr name="Freeform 11" id="11"/>
          <p:cNvSpPr/>
          <p:nvPr/>
        </p:nvSpPr>
        <p:spPr>
          <a:xfrm flipH="false" flipV="true" rot="-772995">
            <a:off x="-13386261" y="-7626242"/>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0229" y="3391530"/>
            <a:ext cx="1233504" cy="930985"/>
            <a:chOff x="0" y="0"/>
            <a:chExt cx="324873" cy="245198"/>
          </a:xfrm>
        </p:grpSpPr>
        <p:sp>
          <p:nvSpPr>
            <p:cNvPr name="Freeform 3" id="3"/>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4" id="4"/>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3</a:t>
              </a:r>
            </a:p>
          </p:txBody>
        </p:sp>
      </p:grpSp>
      <p:grpSp>
        <p:nvGrpSpPr>
          <p:cNvPr name="Group 5" id="5"/>
          <p:cNvGrpSpPr/>
          <p:nvPr/>
        </p:nvGrpSpPr>
        <p:grpSpPr>
          <a:xfrm rot="0">
            <a:off x="9399200" y="3391530"/>
            <a:ext cx="1233504" cy="930985"/>
            <a:chOff x="0" y="0"/>
            <a:chExt cx="324873" cy="245198"/>
          </a:xfrm>
        </p:grpSpPr>
        <p:sp>
          <p:nvSpPr>
            <p:cNvPr name="Freeform 6" id="6"/>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7" id="7"/>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4</a:t>
              </a:r>
            </a:p>
          </p:txBody>
        </p:sp>
      </p:grpSp>
      <p:sp>
        <p:nvSpPr>
          <p:cNvPr name="TextBox 8" id="8"/>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Kesimpulan</a:t>
            </a:r>
          </a:p>
        </p:txBody>
      </p:sp>
      <p:sp>
        <p:nvSpPr>
          <p:cNvPr name="TextBox 9" id="9"/>
          <p:cNvSpPr txBox="true"/>
          <p:nvPr/>
        </p:nvSpPr>
        <p:spPr>
          <a:xfrm rot="0">
            <a:off x="2832383" y="2752123"/>
            <a:ext cx="6253320" cy="58674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Pembuatan middleware komunikasi menggunakan XMPP dan arsiterktur microservice mempunyai tujuan khusus untuk menambahkan kemampuan meng-scale up kebutuhan yang dibutuhkan saja. Tidak seperti monolith yang tidak memiliki kemampuan meng-scale up kebutuhan tertentu, monolith ketika ingin meng-scale up, wajib meng-scale up seluruh proses.</a:t>
            </a:r>
          </a:p>
        </p:txBody>
      </p:sp>
      <p:sp>
        <p:nvSpPr>
          <p:cNvPr name="TextBox 10" id="10"/>
          <p:cNvSpPr txBox="true"/>
          <p:nvPr/>
        </p:nvSpPr>
        <p:spPr>
          <a:xfrm rot="0">
            <a:off x="10946201" y="2752123"/>
            <a:ext cx="6728249" cy="42672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Pengubahan dari monolith ke microservice memberikan  kemampuan untuk memberikan hasil yang terbaik dari setiap komponen. Hasil ini didapat karena setiap komponen dapat dikembangkan sesuai best practice kasus yang dihadapi, tanpa takut mengganggu proses komponen lain.</a:t>
            </a:r>
          </a:p>
        </p:txBody>
      </p:sp>
      <p:sp>
        <p:nvSpPr>
          <p:cNvPr name="Freeform 11" id="11"/>
          <p:cNvSpPr/>
          <p:nvPr/>
        </p:nvSpPr>
        <p:spPr>
          <a:xfrm flipH="false" flipV="true" rot="-772995">
            <a:off x="-13386261" y="-7626242"/>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00588" y="2221846"/>
            <a:ext cx="1233504" cy="930985"/>
            <a:chOff x="0" y="0"/>
            <a:chExt cx="324873" cy="245198"/>
          </a:xfrm>
        </p:grpSpPr>
        <p:sp>
          <p:nvSpPr>
            <p:cNvPr name="Freeform 3" id="3"/>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4" id="4"/>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1</a:t>
              </a:r>
            </a:p>
          </p:txBody>
        </p:sp>
      </p:grpSp>
      <p:grpSp>
        <p:nvGrpSpPr>
          <p:cNvPr name="Group 5" id="5"/>
          <p:cNvGrpSpPr/>
          <p:nvPr/>
        </p:nvGrpSpPr>
        <p:grpSpPr>
          <a:xfrm rot="0">
            <a:off x="13515888" y="2221846"/>
            <a:ext cx="1233504" cy="930985"/>
            <a:chOff x="0" y="0"/>
            <a:chExt cx="324873" cy="245198"/>
          </a:xfrm>
        </p:grpSpPr>
        <p:sp>
          <p:nvSpPr>
            <p:cNvPr name="Freeform 6" id="6"/>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7" id="7"/>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2</a:t>
              </a:r>
            </a:p>
          </p:txBody>
        </p:sp>
      </p:grpSp>
      <p:sp>
        <p:nvSpPr>
          <p:cNvPr name="Freeform 8" id="8"/>
          <p:cNvSpPr/>
          <p:nvPr/>
        </p:nvSpPr>
        <p:spPr>
          <a:xfrm flipH="false" flipV="false" rot="0">
            <a:off x="15508142" y="7384067"/>
            <a:ext cx="2779858" cy="2857798"/>
          </a:xfrm>
          <a:custGeom>
            <a:avLst/>
            <a:gdLst/>
            <a:ahLst/>
            <a:cxnLst/>
            <a:rect r="r" b="b" t="t" l="l"/>
            <a:pathLst>
              <a:path h="2857798" w="2779858">
                <a:moveTo>
                  <a:pt x="0" y="0"/>
                </a:moveTo>
                <a:lnTo>
                  <a:pt x="2779858" y="0"/>
                </a:lnTo>
                <a:lnTo>
                  <a:pt x="2779858" y="2857798"/>
                </a:lnTo>
                <a:lnTo>
                  <a:pt x="0" y="28577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F35FA8"/>
                </a:solidFill>
                <a:latin typeface="League Spartan"/>
                <a:ea typeface="League Spartan"/>
                <a:cs typeface="League Spartan"/>
                <a:sym typeface="League Spartan"/>
              </a:rPr>
              <a:t>Saran</a:t>
            </a:r>
          </a:p>
        </p:txBody>
      </p:sp>
      <p:sp>
        <p:nvSpPr>
          <p:cNvPr name="TextBox 10" id="10"/>
          <p:cNvSpPr txBox="true"/>
          <p:nvPr/>
        </p:nvSpPr>
        <p:spPr>
          <a:xfrm rot="0">
            <a:off x="2890680" y="3704601"/>
            <a:ext cx="6253320" cy="53340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Keamanan jaringan pada penelitian ini belum diimplementasikan sama sekali, maka ada baiknya jika memperbaiki permasalahan keamanan jaringan yang ada. Mengamankan jaringan dengan algoritma enkripsi ECC dan mengamankan pengiriman data yang dilakukan menggunakan enkripsi AES.</a:t>
            </a:r>
          </a:p>
        </p:txBody>
      </p:sp>
      <p:sp>
        <p:nvSpPr>
          <p:cNvPr name="TextBox 11" id="11"/>
          <p:cNvSpPr txBox="true"/>
          <p:nvPr/>
        </p:nvSpPr>
        <p:spPr>
          <a:xfrm rot="0">
            <a:off x="11005980" y="3704601"/>
            <a:ext cx="6253320" cy="26670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Pada penelitian ini, fitur konfirmasi penambahan roster masih otomatis dilakukan oleh server. Bisa menambahkan spesifikasi lebih lanjut pada fitur ini.</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3315308"/>
            <a:ext cx="1233504" cy="930985"/>
            <a:chOff x="0" y="0"/>
            <a:chExt cx="324873" cy="245198"/>
          </a:xfrm>
        </p:grpSpPr>
        <p:sp>
          <p:nvSpPr>
            <p:cNvPr name="Freeform 3" id="3"/>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4" id="4"/>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3</a:t>
              </a:r>
            </a:p>
          </p:txBody>
        </p:sp>
      </p:grpSp>
      <p:grpSp>
        <p:nvGrpSpPr>
          <p:cNvPr name="Group 5" id="5"/>
          <p:cNvGrpSpPr/>
          <p:nvPr/>
        </p:nvGrpSpPr>
        <p:grpSpPr>
          <a:xfrm rot="0">
            <a:off x="1028700" y="6728074"/>
            <a:ext cx="1233504" cy="930985"/>
            <a:chOff x="0" y="0"/>
            <a:chExt cx="324873" cy="245198"/>
          </a:xfrm>
        </p:grpSpPr>
        <p:sp>
          <p:nvSpPr>
            <p:cNvPr name="Freeform 6" id="6"/>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7" id="7"/>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4</a:t>
              </a:r>
            </a:p>
          </p:txBody>
        </p:sp>
      </p:grpSp>
      <p:sp>
        <p:nvSpPr>
          <p:cNvPr name="Freeform 8" id="8"/>
          <p:cNvSpPr/>
          <p:nvPr/>
        </p:nvSpPr>
        <p:spPr>
          <a:xfrm flipH="false" flipV="false" rot="0">
            <a:off x="10486709" y="2221846"/>
            <a:ext cx="7801291" cy="8020019"/>
          </a:xfrm>
          <a:custGeom>
            <a:avLst/>
            <a:gdLst/>
            <a:ahLst/>
            <a:cxnLst/>
            <a:rect r="r" b="b" t="t" l="l"/>
            <a:pathLst>
              <a:path h="8020019" w="7801291">
                <a:moveTo>
                  <a:pt x="0" y="0"/>
                </a:moveTo>
                <a:lnTo>
                  <a:pt x="7801291" y="0"/>
                </a:lnTo>
                <a:lnTo>
                  <a:pt x="7801291" y="8020019"/>
                </a:lnTo>
                <a:lnTo>
                  <a:pt x="0" y="8020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F35FA8"/>
                </a:solidFill>
                <a:latin typeface="League Spartan"/>
                <a:ea typeface="League Spartan"/>
                <a:cs typeface="League Spartan"/>
                <a:sym typeface="League Spartan"/>
              </a:rPr>
              <a:t>Saran</a:t>
            </a:r>
          </a:p>
        </p:txBody>
      </p:sp>
      <p:sp>
        <p:nvSpPr>
          <p:cNvPr name="TextBox 10" id="10"/>
          <p:cNvSpPr txBox="true"/>
          <p:nvPr/>
        </p:nvSpPr>
        <p:spPr>
          <a:xfrm rot="0">
            <a:off x="3022883" y="3056901"/>
            <a:ext cx="6253320" cy="16002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Fitur untuk mengirimkan gambar atau pesan suara juga bisa ditambahkan.</a:t>
            </a:r>
          </a:p>
        </p:txBody>
      </p:sp>
      <p:sp>
        <p:nvSpPr>
          <p:cNvPr name="TextBox 11" id="11"/>
          <p:cNvSpPr txBox="true"/>
          <p:nvPr/>
        </p:nvSpPr>
        <p:spPr>
          <a:xfrm rot="0">
            <a:off x="3022883" y="6374417"/>
            <a:ext cx="6253320" cy="1600200"/>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XMPP memiliki banyak sekali catatan fitur, gunakan yang ingin diimplementasikan.</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5185029" y="-11154555"/>
            <a:ext cx="27388416" cy="22309109"/>
          </a:xfrm>
          <a:custGeom>
            <a:avLst/>
            <a:gdLst/>
            <a:ahLst/>
            <a:cxnLst/>
            <a:rect r="r" b="b" t="t" l="l"/>
            <a:pathLst>
              <a:path h="22309109" w="27388416">
                <a:moveTo>
                  <a:pt x="0" y="22309110"/>
                </a:moveTo>
                <a:lnTo>
                  <a:pt x="27388415" y="22309110"/>
                </a:lnTo>
                <a:lnTo>
                  <a:pt x="27388415" y="0"/>
                </a:lnTo>
                <a:lnTo>
                  <a:pt x="0" y="0"/>
                </a:lnTo>
                <a:lnTo>
                  <a:pt x="0" y="2230911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3952303"/>
            <a:ext cx="6130879" cy="5305997"/>
          </a:xfrm>
          <a:custGeom>
            <a:avLst/>
            <a:gdLst/>
            <a:ahLst/>
            <a:cxnLst/>
            <a:rect r="r" b="b" t="t" l="l"/>
            <a:pathLst>
              <a:path h="5305997" w="6130879">
                <a:moveTo>
                  <a:pt x="0" y="0"/>
                </a:moveTo>
                <a:lnTo>
                  <a:pt x="6130879" y="0"/>
                </a:lnTo>
                <a:lnTo>
                  <a:pt x="6130879" y="5305997"/>
                </a:lnTo>
                <a:lnTo>
                  <a:pt x="0" y="53059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275913" y="2378461"/>
            <a:ext cx="12612756" cy="5244327"/>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DAGcuXITvnQ</dc:identifier>
  <dcterms:modified xsi:type="dcterms:W3CDTF">2011-08-01T06:04:30Z</dcterms:modified>
  <cp:revision>1</cp:revision>
  <dc:title>REsa fajar sukma</dc:title>
</cp:coreProperties>
</file>